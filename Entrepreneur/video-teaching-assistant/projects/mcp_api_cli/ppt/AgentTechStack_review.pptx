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0b96cf704394c81" /><Relationship Type="http://schemas.openxmlformats.org/officeDocument/2006/relationships/extended-properties" Target="/docProps/app.xml" Id="Ra52ee5e55b9349ea" /><Relationship Type="http://schemas.openxmlformats.org/officeDocument/2006/relationships/officeDocument" Target="/ppt/presentation.xml" Id="R33549502a2d64dc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54741b60bdb4ece"/>
  </p:sldMasterIdLst>
  <p:notesMasterIdLst>
    <p:notesMasterId xmlns:r="http://schemas.openxmlformats.org/officeDocument/2006/relationships" r:id="R633ba200ad78445b"/>
  </p:notesMasterIdLst>
  <p:sldIdLst>
    <p:sldId xmlns:r="http://schemas.openxmlformats.org/officeDocument/2006/relationships" id="256" r:id="Rafedb452269b4909"/>
    <p:sldId xmlns:r="http://schemas.openxmlformats.org/officeDocument/2006/relationships" id="257" r:id="Rb57608b4cecf49f0"/>
    <p:sldId xmlns:r="http://schemas.openxmlformats.org/officeDocument/2006/relationships" id="258" r:id="R44515301ba29470b"/>
    <p:sldId xmlns:r="http://schemas.openxmlformats.org/officeDocument/2006/relationships" id="259" r:id="R35ff6a6a85da4d5b"/>
    <p:sldId xmlns:r="http://schemas.openxmlformats.org/officeDocument/2006/relationships" id="260" r:id="R0a61772182344866"/>
    <p:sldId xmlns:r="http://schemas.openxmlformats.org/officeDocument/2006/relationships" id="261" r:id="Rdf59b485a10b42ba"/>
    <p:sldId xmlns:r="http://schemas.openxmlformats.org/officeDocument/2006/relationships" id="262" r:id="R4e3625a1d5974e2f"/>
    <p:sldId xmlns:r="http://schemas.openxmlformats.org/officeDocument/2006/relationships" id="263" r:id="Rb3213be99dd44963"/>
    <p:sldId xmlns:r="http://schemas.openxmlformats.org/officeDocument/2006/relationships" id="264" r:id="Rc81f71db008e44cf"/>
  </p:sldIdLst>
  <p:sldSz cx="18288000" cy="10287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7ce25a62d874b02" /><Relationship Type="http://schemas.openxmlformats.org/officeDocument/2006/relationships/slideMaster" Target="/ppt/slideMasters/slideMaster1.xml" Id="Rc54741b60bdb4ece" /><Relationship Type="http://schemas.openxmlformats.org/officeDocument/2006/relationships/notesMaster" Target="/ppt/notesMasters/notesMaster1.xml" Id="R633ba200ad78445b" /><Relationship Type="http://schemas.openxmlformats.org/officeDocument/2006/relationships/presProps" Target="/ppt/presProps.xml" Id="Rce78335a2f474dc1" /><Relationship Type="http://schemas.openxmlformats.org/officeDocument/2006/relationships/tableStyles" Target="/ppt/tableStyles.xml" Id="R0edb87faa25244a1" /><Relationship Type="http://schemas.openxmlformats.org/officeDocument/2006/relationships/slide" Target="/ppt/slides/slide1.xml" Id="Rafedb452269b4909" /><Relationship Type="http://schemas.openxmlformats.org/officeDocument/2006/relationships/slide" Target="/ppt/slides/slide2.xml" Id="Rb57608b4cecf49f0" /><Relationship Type="http://schemas.openxmlformats.org/officeDocument/2006/relationships/slide" Target="/ppt/slides/slide3.xml" Id="R44515301ba29470b" /><Relationship Type="http://schemas.openxmlformats.org/officeDocument/2006/relationships/slide" Target="/ppt/slides/slide4.xml" Id="R35ff6a6a85da4d5b" /><Relationship Type="http://schemas.openxmlformats.org/officeDocument/2006/relationships/slide" Target="/ppt/slides/slide5.xml" Id="R0a61772182344866" /><Relationship Type="http://schemas.openxmlformats.org/officeDocument/2006/relationships/slide" Target="/ppt/slides/slide6.xml" Id="Rdf59b485a10b42ba" /><Relationship Type="http://schemas.openxmlformats.org/officeDocument/2006/relationships/slide" Target="/ppt/slides/slide7.xml" Id="R4e3625a1d5974e2f" /><Relationship Type="http://schemas.openxmlformats.org/officeDocument/2006/relationships/slide" Target="/ppt/slides/slide8.xml" Id="Rb3213be99dd44963" /><Relationship Type="http://schemas.openxmlformats.org/officeDocument/2006/relationships/slide" Target="/ppt/slides/slide9.xml" Id="Rc81f71db008e44c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604fb17347940d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b67869569f2485b" /><Relationship Type="http://schemas.openxmlformats.org/officeDocument/2006/relationships/notesMaster" Target="/ppt/notesMasters/notesMaster1.xml" Id="Rc1bb5240291a440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3e0d8c98aed41ac" /><Relationship Type="http://schemas.openxmlformats.org/officeDocument/2006/relationships/notesMaster" Target="/ppt/notesMasters/notesMaster1.xml" Id="Rae11a0639b2b4a7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f96da771e774235" /><Relationship Type="http://schemas.openxmlformats.org/officeDocument/2006/relationships/notesMaster" Target="/ppt/notesMasters/notesMaster1.xml" Id="R4ae93abe75624de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b8f90ceb8524c7a" /><Relationship Type="http://schemas.openxmlformats.org/officeDocument/2006/relationships/notesMaster" Target="/ppt/notesMasters/notesMaster1.xml" Id="R7a3ad32e074149c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b71d3eb149b4a74" /><Relationship Type="http://schemas.openxmlformats.org/officeDocument/2006/relationships/notesMaster" Target="/ppt/notesMasters/notesMaster1.xml" Id="R1e3bfdb2f1574c0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09755fd80824430" /><Relationship Type="http://schemas.openxmlformats.org/officeDocument/2006/relationships/notesMaster" Target="/ppt/notesMasters/notesMaster1.xml" Id="R8c52575411b0440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9a10409ea9a41dc" /><Relationship Type="http://schemas.openxmlformats.org/officeDocument/2006/relationships/notesMaster" Target="/ppt/notesMasters/notesMaster1.xml" Id="Reea4592ce29e4af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57df9226e374aa8" /><Relationship Type="http://schemas.openxmlformats.org/officeDocument/2006/relationships/notesMaster" Target="/ppt/notesMasters/notesMaster1.xml" Id="Rddf0f169d63341b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b63167bda0c4015" /><Relationship Type="http://schemas.openxmlformats.org/officeDocument/2006/relationships/notesMaster" Target="/ppt/notesMasters/notesMaster1.xml" Id="Rbbbe4f5f8d7e45c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开场先承接受众困惑，不在前 5 秒讲 ReAct 或 Multi-Agent。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用户提供的 pasted-text.txt（概念定义、示例与技术关系）</a:t>
            </a:r>
          </a:p>
          <a:p xmlns:a="http://schemas.openxmlformats.org/drawingml/2006/main">
            <a:r>
              <a:t>- 本页为审核稿：时间点与动画顺序写在 storyboard/semantic-beat-manifest.yaml。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总图是全片主视觉，后续每页都从这里局部放大，再回到总图。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用户提供的 pasted-text.txt（概念定义、示例与技术关系）</a:t>
            </a:r>
          </a:p>
          <a:p xmlns:a="http://schemas.openxmlformats.org/drawingml/2006/main">
            <a:r>
              <a:t>- 本页为审核稿：时间点与动画顺序写在 storyboard/semantic-beat-manifest.yaml。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用一个订单接口例子解释 API，再展示 SDK 封装和 CLI 入口。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用户提供的 pasted-text.txt（概念定义、示例与技术关系）</a:t>
            </a:r>
          </a:p>
          <a:p xmlns:a="http://schemas.openxmlformats.org/drawingml/2006/main">
            <a:r>
              <a:t>- 本页为审核稿：时间点与动画顺序写在 storyboard/semantic-beat-manifest.yaml。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关键不是“模型自己执行代码”，而是模型输出结构化请求，应用程序负责执行。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用户提供的 pasted-text.txt（概念定义、示例与技术关系）</a:t>
            </a:r>
          </a:p>
          <a:p xmlns:a="http://schemas.openxmlformats.org/drawingml/2006/main">
            <a:r>
              <a:t>- 本页为审核稿：时间点与动画顺序写在 storyboard/semantic-beat-manifest.yaml。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MCP 是连接协议，不是 API 的替代品；它让 AI 应用以统一方式发现和调用工具。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用户提供的 pasted-text.txt（概念定义、示例与技术关系）</a:t>
            </a:r>
          </a:p>
          <a:p xmlns:a="http://schemas.openxmlformats.org/drawingml/2006/main">
            <a:r>
              <a:t>- 本页为审核稿：时间点与动画顺序写在 storyboard/semantic-beat-manifest.yaml。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这一页解决最容易混淆的层级关系：MCP 在连接层，ADK 在 Agent 编排层。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用户提供的 pasted-text.txt（概念定义、示例与技术关系）</a:t>
            </a:r>
          </a:p>
          <a:p xmlns:a="http://schemas.openxmlformats.org/drawingml/2006/main">
            <a:r>
              <a:t>- 本页为审核稿：时间点与动画顺序写在 storyboard/semantic-beat-manifest.yaml。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订单案例把七个概念放到一条真实调用链中，强调它们不是互相替代。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用户提供的 pasted-text.txt（概念定义、示例与技术关系）</a:t>
            </a:r>
          </a:p>
          <a:p xmlns:a="http://schemas.openxmlformats.org/drawingml/2006/main">
            <a:r>
              <a:t>- 本页为审核稿：时间点与动画顺序写在 storyboard/semantic-beat-manifest.yaml。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每个词只保留一句核心定义，作为后续课程的记忆卡。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用户提供的 pasted-text.txt（概念定义、示例与技术关系）</a:t>
            </a:r>
          </a:p>
          <a:p xmlns:a="http://schemas.openxmlformats.org/drawingml/2006/main">
            <a:r>
              <a:t>- 本页为审核稿：时间点与动画顺序写在 storyboard/semantic-beat-manifest.yaml。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回到开场问题，用三个判断问题收束。审核通过后再进入配音和词级对齐。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用户提供的 pasted-text.txt（概念定义、示例与技术关系）</a:t>
            </a:r>
          </a:p>
          <a:p xmlns:a="http://schemas.openxmlformats.org/drawingml/2006/main">
            <a:r>
              <a:t>- 本页为审核稿：时间点与动画顺序写在 storyboard/semantic-beat-manifest.yaml。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e8236fe1db64de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4746773248d4030" /><Relationship Type="http://schemas.openxmlformats.org/officeDocument/2006/relationships/slideLayout" Target="/ppt/slideLayouts/slideLayout1.xml" Id="R3761ced1aea54d4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761ced1aea54d4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398cad2996465c" /><Relationship Type="http://schemas.openxmlformats.org/officeDocument/2006/relationships/notesSlide" Target="/ppt/notesSlides/notesSlide1.xml" Id="R3d724766544e474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b8fa3ac6134ae9" /><Relationship Type="http://schemas.openxmlformats.org/officeDocument/2006/relationships/notesSlide" Target="/ppt/notesSlides/notesSlide2.xml" Id="R638cb1b4317741c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12ea8c453e4cbc" /><Relationship Type="http://schemas.openxmlformats.org/officeDocument/2006/relationships/notesSlide" Target="/ppt/notesSlides/notesSlide3.xml" Id="Rb8f99f13e698437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e0990dcc094b17" /><Relationship Type="http://schemas.openxmlformats.org/officeDocument/2006/relationships/notesSlide" Target="/ppt/notesSlides/notesSlide4.xml" Id="R94acd16618f7411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bec07453b64ebd" /><Relationship Type="http://schemas.openxmlformats.org/officeDocument/2006/relationships/notesSlide" Target="/ppt/notesSlides/notesSlide5.xml" Id="R9c6ccbd659504a2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628bcf5a704b84" /><Relationship Type="http://schemas.openxmlformats.org/officeDocument/2006/relationships/notesSlide" Target="/ppt/notesSlides/notesSlide6.xml" Id="Rbbca9237a1b7454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45af07be834976" /><Relationship Type="http://schemas.openxmlformats.org/officeDocument/2006/relationships/notesSlide" Target="/ppt/notesSlides/notesSlide7.xml" Id="R656f69a8bc8746f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5c1af98fb440e1" /><Relationship Type="http://schemas.openxmlformats.org/officeDocument/2006/relationships/notesSlide" Target="/ppt/notesSlides/notesSlide8.xml" Id="Rb804acddfc7b458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bf29af4aa34f9e" /><Relationship Type="http://schemas.openxmlformats.org/officeDocument/2006/relationships/notesSlide" Target="/ppt/notesSlides/notesSlide9.xml" Id="Rd6779abfae65489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618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7" name="glow-top-left-1">
            <a:extLst xmlns:a="http://schemas.openxmlformats.org/drawingml/2006/main">
              <a:ext uri="{FF2B5EF4-FFF2-40B4-BE49-F238E27FC236}">
                <a16:creationId xmlns:a16="http://schemas.microsoft.com/office/drawing/2014/main" id="{BFBA9021-1EBD-4929-870A-B5D0DD2E3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095500" y="-2667000"/>
            <a:ext cx="6858000" cy="685800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2D7CC4">
                  <a:alpha val="30000"/>
                </a:srgbClr>
              </a:gs>
              <a:gs pos="72000">
                <a:srgbClr val="2D7CC4">
                  <a:alpha val="0"/>
                </a:srgbClr>
              </a:gs>
            </a:gsLst>
            <a:path path="shape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glow-bottom-right-1">
            <a:extLst xmlns:a="http://schemas.openxmlformats.org/drawingml/2006/main">
              <a:ext uri="{FF2B5EF4-FFF2-40B4-BE49-F238E27FC236}">
                <a16:creationId xmlns:a16="http://schemas.microsoft.com/office/drawing/2014/main" id="{047B5FE0-5494-4E26-BC92-0366C1F5F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7239000"/>
            <a:ext cx="6477000" cy="647700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2C65A2">
                  <a:alpha val="24000"/>
                </a:srgbClr>
              </a:gs>
              <a:gs pos="74000">
                <a:srgbClr val="2C65A2">
                  <a:alpha val="0"/>
                </a:srgbClr>
              </a:gs>
            </a:gsLst>
            <a:path path="shape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AD4BDC-BD93-4C49-B35B-7FF1F1DEA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0" cy="10287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23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E73166-CF3F-475B-925D-995DAF1BA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0" cy="10287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23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084399-4739-4588-9274-3DC703743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0" cy="10287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23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A68524-68C2-4BF7-A1A2-56B65A268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0" cy="10287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23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89710E-6395-4854-89A4-CEAD0BEA0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0" cy="10287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23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B1F2E0-20EA-4D74-9BD9-CC2831374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0" cy="10287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23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095F29-14BB-4923-8B75-7E91498AC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0" cy="10287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23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7870BF-534E-4D25-9E33-B8F940751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0" cy="10287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23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22C9EC-C60F-4F5E-88FF-DE7FACD1E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0"/>
            <a:ext cx="0" cy="10287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23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06A0FB-7E0C-464F-992B-E6D026A68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0"/>
            <a:ext cx="0" cy="10287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23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1BCC2F3-BC06-473A-8496-7420D85D5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0" y="0"/>
            <a:ext cx="0" cy="10287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23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3390F8A-9FB3-4F85-9D77-6416D266F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0" y="0"/>
            <a:ext cx="0" cy="10287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23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8F2B5D-294B-4F5F-911F-29E8A7ED3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0" y="0"/>
            <a:ext cx="0" cy="10287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23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C919A36-52C6-4747-9CF6-35CF1576B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23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1274526-405D-4DB8-A609-9F2877099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0"/>
            <a:ext cx="1828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23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D929F6C-E30C-4F32-A2FE-46D58BAF0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828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23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62202C3-C026-4D83-B04A-169F4FF4C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828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23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0403E7C-4433-4439-BC09-50722DF64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828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23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BA3716F-56BA-44F2-A526-C4531C0D7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00"/>
            <a:ext cx="1828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23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4D002CB-6C82-4EE8-9829-B4614F131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144000"/>
            <a:ext cx="1828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236"/>
            </a:solidFill>
            <a:prstDash val="solid"/>
          </a:ln>
        </p:spPr>
      </p:sp>
      <p:sp>
        <p:nvSpPr>
          <p:cNvPr id="23" name="eyebrow-1">
            <a:extLst xmlns:a="http://schemas.openxmlformats.org/drawingml/2006/main">
              <a:ext uri="{FF2B5EF4-FFF2-40B4-BE49-F238E27FC236}">
                <a16:creationId xmlns:a16="http://schemas.microsoft.com/office/drawing/2014/main" id="{DBC6CBB4-CD83-48D9-8968-D845E34CF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3850"/>
            <a:ext cx="666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8ED6FF"/>
                </a:solidFill>
              </a:defRPr>
            </a:pPr>
            <a:r>
              <a:rPr sz="1350" b="1">
                <a:solidFill>
                  <a:srgbClr val="8ED6FF"/>
                </a:solidFill>
              </a:rPr>
              <a:t>AGENT ARCHITECTURE / COURSE LOOP</a:t>
            </a:r>
          </a:p>
        </p:txBody>
      </p:sp>
      <p:sp>
        <p:nvSpPr>
          <p:cNvPr id="24" name="label-1">
            <a:extLst xmlns:a="http://schemas.openxmlformats.org/drawingml/2006/main">
              <a:ext uri="{FF2B5EF4-FFF2-40B4-BE49-F238E27FC236}">
                <a16:creationId xmlns:a16="http://schemas.microsoft.com/office/drawing/2014/main" id="{6435FBDB-60EB-448D-BA67-152036135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0" y="3238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350" b="1">
                <a:solidFill>
                  <a:srgbClr val="FFD66F"/>
                </a:solidFill>
              </a:defRPr>
            </a:pPr>
            <a:r>
              <a:rPr sz="1350" b="1">
                <a:solidFill>
                  <a:srgbClr val="FFD66F"/>
                </a:solidFill>
              </a:rPr>
              <a:t>OPENING / 00:00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C7B281E-776F-49CE-A904-0B9CA7C52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76300"/>
            <a:ext cx="1684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B4058"/>
            </a:solidFill>
            <a:prstDash val="solid"/>
          </a:ln>
        </p:spPr>
      </p:sp>
      <p:sp>
        <p:nvSpPr>
          <p:cNvPr id="26" name="title-1">
            <a:extLst xmlns:a="http://schemas.openxmlformats.org/drawingml/2006/main">
              <a:ext uri="{FF2B5EF4-FFF2-40B4-BE49-F238E27FC236}">
                <a16:creationId xmlns:a16="http://schemas.microsoft.com/office/drawing/2014/main" id="{58D704BA-F85B-4835-853A-50FD988FC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181100"/>
            <a:ext cx="15240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450" b="1">
                <a:solidFill>
                  <a:srgbClr val="F7FBFF"/>
                </a:solidFill>
              </a:defRPr>
            </a:pPr>
            <a:r>
              <a:rPr sz="3450" b="1">
                <a:solidFill>
                  <a:srgbClr val="F7FBFF"/>
                </a:solidFill>
              </a:rPr>
              <a:t>这 7 个词，为什么总被混在一起？</a:t>
            </a:r>
          </a:p>
        </p:txBody>
      </p:sp>
      <p:sp>
        <p:nvSpPr>
          <p:cNvPr id="27" name="subtitle-safe-band-1">
            <a:extLst xmlns:a="http://schemas.openxmlformats.org/drawingml/2006/main">
              <a:ext uri="{FF2B5EF4-FFF2-40B4-BE49-F238E27FC236}">
                <a16:creationId xmlns:a16="http://schemas.microsoft.com/office/drawing/2014/main" id="{0502E8AA-0E75-464F-89F4-378C51F73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572500"/>
            <a:ext cx="182880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C8DA71A-63EE-46BE-9C3F-909B4A2AD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572500"/>
            <a:ext cx="1684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04B6A"/>
            </a:solidFill>
            <a:prstDash val="solid"/>
          </a:ln>
        </p:spPr>
      </p:sp>
      <p:sp>
        <p:nvSpPr>
          <p:cNvPr id="29" name="safe-note-1">
            <a:extLst xmlns:a="http://schemas.openxmlformats.org/drawingml/2006/main">
              <a:ext uri="{FF2B5EF4-FFF2-40B4-BE49-F238E27FC236}">
                <a16:creationId xmlns:a16="http://schemas.microsoft.com/office/drawing/2014/main" id="{D06000FA-1AD0-48E6-8C86-BDACB2C1E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0" y="8858250"/>
            <a:ext cx="295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050" b="0">
                <a:solidFill>
                  <a:srgbClr val="52718A"/>
                </a:solidFill>
              </a:defRPr>
            </a:pPr>
            <a:r>
              <a:rPr sz="1050" b="0">
                <a:solidFill>
                  <a:srgbClr val="52718A"/>
                </a:solidFill>
              </a:rPr>
              <a:t>字幕安全区（暂不显示）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ED06A95-7D6F-4884-BD2C-88E71653E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57500"/>
            <a:ext cx="8572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850" b="1">
                <a:solidFill>
                  <a:srgbClr val="B8C4D2"/>
                </a:solidFill>
              </a:defRPr>
            </a:pPr>
            <a:r>
              <a:rPr sz="2850" b="1">
                <a:solidFill>
                  <a:srgbClr val="B8C4D2"/>
                </a:solidFill>
              </a:rPr>
              <a:t>它们看起来都和“调用工具”有关，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850" b="1">
                <a:solidFill>
                  <a:srgbClr val="B8C4D2"/>
                </a:solidFill>
              </a:defRPr>
            </a:pPr>
            <a:r>
              <a:rPr sz="2850" b="1">
                <a:solidFill>
                  <a:srgbClr val="B8C4D2"/>
                </a:solidFill>
              </a:rPr>
              <a:t>但其实根本不在同一层。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A4DCFFF-6082-48DA-B4E7-325818295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2857500"/>
            <a:ext cx="1714500" cy="647700"/>
          </a:xfrm>
          <a:prstGeom xmlns:a="http://schemas.openxmlformats.org/drawingml/2006/main" prst="roundRect">
            <a:avLst>
              <a:gd name="adj" fmla="val 29412"/>
            </a:avLst>
          </a:prstGeom>
          <a:solidFill xmlns:a="http://schemas.openxmlformats.org/drawingml/2006/main">
            <a:srgbClr val="0C2B49"/>
          </a:solidFill>
          <a:ln xmlns:a="http://schemas.openxmlformats.org/drawingml/2006/main" w="19050">
            <a:solidFill>
              <a:srgbClr val="8ED6F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53C520D-1DCA-40D4-8106-E9B1F5FBF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2914650"/>
            <a:ext cx="1485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100" b="1">
                <a:solidFill>
                  <a:srgbClr val="8ED6FF"/>
                </a:solidFill>
              </a:defRPr>
            </a:pPr>
            <a:r>
              <a:rPr sz="2100" b="1">
                <a:solidFill>
                  <a:srgbClr val="8ED6FF"/>
                </a:solidFill>
              </a:rPr>
              <a:t>API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E74ACEC-3260-4032-9335-406E72566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0" y="4000500"/>
            <a:ext cx="1714500" cy="647700"/>
          </a:xfrm>
          <a:prstGeom xmlns:a="http://schemas.openxmlformats.org/drawingml/2006/main" prst="roundRect">
            <a:avLst>
              <a:gd name="adj" fmla="val 29412"/>
            </a:avLst>
          </a:prstGeom>
          <a:solidFill xmlns:a="http://schemas.openxmlformats.org/drawingml/2006/main">
            <a:srgbClr val="0C2B49"/>
          </a:solidFill>
          <a:ln xmlns:a="http://schemas.openxmlformats.org/drawingml/2006/main" w="19050">
            <a:solidFill>
              <a:srgbClr val="F7FBF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91E287D-76ED-438A-86E1-B9A83BB19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0" y="4057650"/>
            <a:ext cx="1485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100" b="1">
                <a:solidFill>
                  <a:srgbClr val="F7FBFF"/>
                </a:solidFill>
              </a:defRPr>
            </a:pPr>
            <a:r>
              <a:rPr sz="2100" b="1">
                <a:solidFill>
                  <a:srgbClr val="F7FBFF"/>
                </a:solidFill>
              </a:rPr>
              <a:t>SDK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BB7CBF3-EC41-482F-835C-93B50E02C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0" y="2857500"/>
            <a:ext cx="1714500" cy="647700"/>
          </a:xfrm>
          <a:prstGeom xmlns:a="http://schemas.openxmlformats.org/drawingml/2006/main" prst="roundRect">
            <a:avLst>
              <a:gd name="adj" fmla="val 29412"/>
            </a:avLst>
          </a:prstGeom>
          <a:solidFill xmlns:a="http://schemas.openxmlformats.org/drawingml/2006/main">
            <a:srgbClr val="0C2B49"/>
          </a:solidFill>
          <a:ln xmlns:a="http://schemas.openxmlformats.org/drawingml/2006/main" w="19050">
            <a:solidFill>
              <a:srgbClr val="FFD66F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AAAAE08-E469-433D-90D9-945729063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54300" y="2914650"/>
            <a:ext cx="1485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100" b="1">
                <a:solidFill>
                  <a:srgbClr val="FFD66F"/>
                </a:solidFill>
              </a:defRPr>
            </a:pPr>
            <a:r>
              <a:rPr sz="2100" b="1">
                <a:solidFill>
                  <a:srgbClr val="FFD66F"/>
                </a:solidFill>
              </a:rPr>
              <a:t>CLI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80C30AB-C680-4166-87DA-E00FDC5CD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5334000"/>
            <a:ext cx="2857500" cy="647700"/>
          </a:xfrm>
          <a:prstGeom xmlns:a="http://schemas.openxmlformats.org/drawingml/2006/main" prst="roundRect">
            <a:avLst>
              <a:gd name="adj" fmla="val 29412"/>
            </a:avLst>
          </a:prstGeom>
          <a:solidFill xmlns:a="http://schemas.openxmlformats.org/drawingml/2006/main">
            <a:srgbClr val="0C2B49"/>
          </a:solidFill>
          <a:ln xmlns:a="http://schemas.openxmlformats.org/drawingml/2006/main" w="19050">
            <a:solidFill>
              <a:srgbClr val="F7FBFF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367ACFF-7DC7-4B1D-9BB3-5C7B48A68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5391150"/>
            <a:ext cx="2628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575" b="1">
                <a:solidFill>
                  <a:srgbClr val="F7FBFF"/>
                </a:solidFill>
              </a:defRPr>
            </a:pPr>
            <a:r>
              <a:rPr sz="1575" b="1">
                <a:solidFill>
                  <a:srgbClr val="F7FBFF"/>
                </a:solidFill>
              </a:rPr>
              <a:t>Function Calling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3C3C9D9-494D-4FC2-9C22-3776A3722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0" y="5334000"/>
            <a:ext cx="2857500" cy="647700"/>
          </a:xfrm>
          <a:prstGeom xmlns:a="http://schemas.openxmlformats.org/drawingml/2006/main" prst="roundRect">
            <a:avLst>
              <a:gd name="adj" fmla="val 29412"/>
            </a:avLst>
          </a:prstGeom>
          <a:solidFill xmlns:a="http://schemas.openxmlformats.org/drawingml/2006/main">
            <a:srgbClr val="0C2B49"/>
          </a:solidFill>
          <a:ln xmlns:a="http://schemas.openxmlformats.org/drawingml/2006/main" w="19050">
            <a:solidFill>
              <a:srgbClr val="FFD66F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6C587D0-916C-4EF6-9BD5-48E8B92D9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35050" y="5391150"/>
            <a:ext cx="2628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575" b="1">
                <a:solidFill>
                  <a:srgbClr val="FFD66F"/>
                </a:solidFill>
              </a:defRPr>
            </a:pPr>
            <a:r>
              <a:rPr sz="1575" b="1">
                <a:solidFill>
                  <a:srgbClr val="FFD66F"/>
                </a:solidFill>
              </a:rPr>
              <a:t>Tool Calling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86A1541-F609-421D-B37C-DED781D35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0" y="6477000"/>
            <a:ext cx="1714500" cy="647700"/>
          </a:xfrm>
          <a:prstGeom xmlns:a="http://schemas.openxmlformats.org/drawingml/2006/main" prst="roundRect">
            <a:avLst>
              <a:gd name="adj" fmla="val 29412"/>
            </a:avLst>
          </a:prstGeom>
          <a:solidFill xmlns:a="http://schemas.openxmlformats.org/drawingml/2006/main">
            <a:srgbClr val="0C2B49"/>
          </a:solidFill>
          <a:ln xmlns:a="http://schemas.openxmlformats.org/drawingml/2006/main" w="19050">
            <a:solidFill>
              <a:srgbClr val="8ED6FF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7158FAA-E260-4111-8870-26744362B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54300" y="6534150"/>
            <a:ext cx="1485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100" b="1">
                <a:solidFill>
                  <a:srgbClr val="8ED6FF"/>
                </a:solidFill>
              </a:defRPr>
            </a:pPr>
            <a:r>
              <a:rPr sz="2100" b="1">
                <a:solidFill>
                  <a:srgbClr val="8ED6FF"/>
                </a:solidFill>
              </a:rPr>
              <a:t>MCP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1096B1E-DB1C-49E9-A7E0-5BADA2840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6858000"/>
            <a:ext cx="1714500" cy="647700"/>
          </a:xfrm>
          <a:prstGeom xmlns:a="http://schemas.openxmlformats.org/drawingml/2006/main" prst="roundRect">
            <a:avLst>
              <a:gd name="adj" fmla="val 29412"/>
            </a:avLst>
          </a:prstGeom>
          <a:solidFill xmlns:a="http://schemas.openxmlformats.org/drawingml/2006/main">
            <a:srgbClr val="0C2B49"/>
          </a:solidFill>
          <a:ln xmlns:a="http://schemas.openxmlformats.org/drawingml/2006/main" w="19050">
            <a:solidFill>
              <a:srgbClr val="FFD66F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54280D8-B82E-4194-B83E-76EDD533B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15800" y="6915150"/>
            <a:ext cx="1485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100" b="1">
                <a:solidFill>
                  <a:srgbClr val="FFD66F"/>
                </a:solidFill>
              </a:defRPr>
            </a:pPr>
            <a:r>
              <a:rPr sz="2100" b="1">
                <a:solidFill>
                  <a:srgbClr val="FFD66F"/>
                </a:solidFill>
              </a:rPr>
              <a:t>ADK</a:t>
            </a:r>
          </a:p>
        </p:txBody>
      </p:sp>
      <p:sp>
        <p:nvSpPr>
          <p:cNvPr id="45" name="hook-conclusion">
            <a:extLst xmlns:a="http://schemas.openxmlformats.org/drawingml/2006/main">
              <a:ext uri="{FF2B5EF4-FFF2-40B4-BE49-F238E27FC236}">
                <a16:creationId xmlns:a16="http://schemas.microsoft.com/office/drawing/2014/main" id="{4AF1CEAA-DBF9-4404-A7F6-E1CBF01A6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6191250"/>
            <a:ext cx="8286750" cy="10477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0A2F4E"/>
          </a:solidFill>
          <a:ln xmlns:a="http://schemas.openxmlformats.org/drawingml/2006/main" w="19050">
            <a:solidFill>
              <a:srgbClr val="FFD66F"/>
            </a:solidFill>
            <a:prstDash val="solid"/>
          </a:ln>
        </p:spPr>
      </p:sp>
      <p:sp>
        <p:nvSpPr>
          <p:cNvPr id="46" name="hook-conclusion-title">
            <a:extLst xmlns:a="http://schemas.openxmlformats.org/drawingml/2006/main">
              <a:ext uri="{FF2B5EF4-FFF2-40B4-BE49-F238E27FC236}">
                <a16:creationId xmlns:a16="http://schemas.microsoft.com/office/drawing/2014/main" id="{ACBC4740-DFAA-43DD-827C-89E12918C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6400800"/>
            <a:ext cx="7753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75" b="1">
                <a:solidFill>
                  <a:srgbClr val="FFD66F"/>
                </a:solidFill>
              </a:defRPr>
            </a:pPr>
            <a:r>
              <a:rPr sz="2175" b="1">
                <a:solidFill>
                  <a:srgbClr val="FFD66F"/>
                </a:solidFill>
              </a:rPr>
              <a:t>先放回地图，再解释每个词</a:t>
            </a:r>
          </a:p>
        </p:txBody>
      </p:sp>
    </p:spTree>
    <p:extLst>
      <p:ext uri="{BB962C8B-B14F-4D97-AF65-F5344CB8AC3E}">
        <p14:creationId xmlns:p14="http://schemas.microsoft.com/office/powerpoint/2010/main" val="211897810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618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glow-top-left-2">
            <a:extLst xmlns:a="http://schemas.openxmlformats.org/drawingml/2006/main">
              <a:ext uri="{FF2B5EF4-FFF2-40B4-BE49-F238E27FC236}">
                <a16:creationId xmlns:a16="http://schemas.microsoft.com/office/drawing/2014/main" id="{36AC902B-811F-406D-B06B-E8178B4D1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095500" y="-2667000"/>
            <a:ext cx="6858000" cy="685800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2D7CC4">
                  <a:alpha val="30000"/>
                </a:srgbClr>
              </a:gs>
              <a:gs pos="72000">
                <a:srgbClr val="2D7CC4">
                  <a:alpha val="0"/>
                </a:srgbClr>
              </a:gs>
            </a:gsLst>
            <a:path path="shape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glow-bottom-right-2">
            <a:extLst xmlns:a="http://schemas.openxmlformats.org/drawingml/2006/main">
              <a:ext uri="{FF2B5EF4-FFF2-40B4-BE49-F238E27FC236}">
                <a16:creationId xmlns:a16="http://schemas.microsoft.com/office/drawing/2014/main" id="{E9735E97-BE81-44E5-8774-C0CFB56DF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7239000"/>
            <a:ext cx="6477000" cy="647700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2C65A2">
                  <a:alpha val="24000"/>
                </a:srgbClr>
              </a:gs>
              <a:gs pos="74000">
                <a:srgbClr val="2C65A2">
                  <a:alpha val="0"/>
                </a:srgbClr>
              </a:gs>
            </a:gsLst>
            <a:path path="shape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062092-44A7-42B1-A416-358AFAF5C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0" cy="10287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23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3FD9AA-92D8-49D4-83AC-057361F88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0" cy="10287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23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AFA3C1-530B-4A05-B64F-0F1A9BBB7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0" cy="10287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23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FDE657-1BE5-45D2-B950-305A96816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0" cy="10287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23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3676D9-3A17-4821-85B2-AB0FCCDE2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0" cy="10287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23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DE5C5C-0D6D-4148-865B-3925F63D2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0" cy="10287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23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B9EB8E-CCD9-478C-AE3D-ABE92B1DA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0" cy="10287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23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D527B4-1BF4-42E8-81CB-E37E133FC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0" cy="10287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23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67EDB0-188C-450A-8C56-4751E7227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0"/>
            <a:ext cx="0" cy="10287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23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CFE892-D9C2-4B0C-A83E-8ED31D4C1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0"/>
            <a:ext cx="0" cy="10287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23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43C120-97E7-428A-A376-0771574C3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0" y="0"/>
            <a:ext cx="0" cy="10287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23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1D9BE8-9D53-4F97-B342-977B8C734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0" y="0"/>
            <a:ext cx="0" cy="10287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23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966CEED-D39F-4702-9668-FD7E3E093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0" y="0"/>
            <a:ext cx="0" cy="10287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23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1BB9870-9AA6-4071-9773-EEE275F2E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23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170CE5A-99D5-47A0-ADA8-657B0415F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0"/>
            <a:ext cx="1828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23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A8EC514-120F-4B7D-A000-D50236A87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828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23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F89738E-BD36-41D5-804A-4CBA7574E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828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23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4175C5D-2BAA-4DB3-8BF6-74AE2D963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828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23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B7A8301-EC8A-4232-AB63-8BB6E339F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00"/>
            <a:ext cx="1828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23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2A38E72-41FD-4F00-9B34-6FABF3BFC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144000"/>
            <a:ext cx="1828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236"/>
            </a:solidFill>
            <a:prstDash val="solid"/>
          </a:ln>
        </p:spPr>
      </p:sp>
      <p:sp>
        <p:nvSpPr>
          <p:cNvPr id="23" name="eyebrow-2">
            <a:extLst xmlns:a="http://schemas.openxmlformats.org/drawingml/2006/main">
              <a:ext uri="{FF2B5EF4-FFF2-40B4-BE49-F238E27FC236}">
                <a16:creationId xmlns:a16="http://schemas.microsoft.com/office/drawing/2014/main" id="{7FEB4A39-0175-4A5E-A616-0D83EE5F0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3850"/>
            <a:ext cx="666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8ED6FF"/>
                </a:solidFill>
              </a:defRPr>
            </a:pPr>
            <a:r>
              <a:rPr sz="1350" b="1">
                <a:solidFill>
                  <a:srgbClr val="8ED6FF"/>
                </a:solidFill>
              </a:rPr>
              <a:t>AGENT ARCHITECTURE / COURSE LOOP</a:t>
            </a:r>
          </a:p>
        </p:txBody>
      </p:sp>
      <p:sp>
        <p:nvSpPr>
          <p:cNvPr id="24" name="label-2">
            <a:extLst xmlns:a="http://schemas.openxmlformats.org/drawingml/2006/main">
              <a:ext uri="{FF2B5EF4-FFF2-40B4-BE49-F238E27FC236}">
                <a16:creationId xmlns:a16="http://schemas.microsoft.com/office/drawing/2014/main" id="{0630A045-C41A-46BE-93EE-F7E53684A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0" y="3238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350" b="1">
                <a:solidFill>
                  <a:srgbClr val="FFD66F"/>
                </a:solidFill>
              </a:defRPr>
            </a:pPr>
            <a:r>
              <a:rPr sz="1350" b="1">
                <a:solidFill>
                  <a:srgbClr val="FFD66F"/>
                </a:solidFill>
              </a:rPr>
              <a:t>MAP / 00:16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913C0CD-A90D-4F7F-A28E-905C56E9F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76300"/>
            <a:ext cx="1684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B4058"/>
            </a:solidFill>
            <a:prstDash val="solid"/>
          </a:ln>
        </p:spPr>
      </p:sp>
      <p:sp>
        <p:nvSpPr>
          <p:cNvPr id="26" name="title-2">
            <a:extLst xmlns:a="http://schemas.openxmlformats.org/drawingml/2006/main">
              <a:ext uri="{FF2B5EF4-FFF2-40B4-BE49-F238E27FC236}">
                <a16:creationId xmlns:a16="http://schemas.microsoft.com/office/drawing/2014/main" id="{A42F7FF0-2F6E-4410-B2F9-12EBAEDA3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181100"/>
            <a:ext cx="15240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450" b="1">
                <a:solidFill>
                  <a:srgbClr val="F7FBFF"/>
                </a:solidFill>
              </a:defRPr>
            </a:pPr>
            <a:r>
              <a:rPr sz="3450" b="1">
                <a:solidFill>
                  <a:srgbClr val="F7FBFF"/>
                </a:solidFill>
              </a:rPr>
              <a:t>先看总地图，再解释每个词</a:t>
            </a:r>
          </a:p>
        </p:txBody>
      </p:sp>
      <p:sp>
        <p:nvSpPr>
          <p:cNvPr id="27" name="subtitle-safe-band-2">
            <a:extLst xmlns:a="http://schemas.openxmlformats.org/drawingml/2006/main">
              <a:ext uri="{FF2B5EF4-FFF2-40B4-BE49-F238E27FC236}">
                <a16:creationId xmlns:a16="http://schemas.microsoft.com/office/drawing/2014/main" id="{B8B1E6F2-CC9E-40A0-ADAD-2F1A30C8F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572500"/>
            <a:ext cx="182880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82DD55E-45B4-4D3A-871C-9A3E47987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572500"/>
            <a:ext cx="1684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04B6A"/>
            </a:solidFill>
            <a:prstDash val="solid"/>
          </a:ln>
        </p:spPr>
      </p:sp>
      <p:sp>
        <p:nvSpPr>
          <p:cNvPr id="29" name="safe-note-2">
            <a:extLst xmlns:a="http://schemas.openxmlformats.org/drawingml/2006/main">
              <a:ext uri="{FF2B5EF4-FFF2-40B4-BE49-F238E27FC236}">
                <a16:creationId xmlns:a16="http://schemas.microsoft.com/office/drawing/2014/main" id="{19C80FA7-CCAF-4D46-AEC1-413146D8B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0" y="8858250"/>
            <a:ext cx="295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050" b="0">
                <a:solidFill>
                  <a:srgbClr val="52718A"/>
                </a:solidFill>
              </a:defRPr>
            </a:pPr>
            <a:r>
              <a:rPr sz="1050" b="0">
                <a:solidFill>
                  <a:srgbClr val="52718A"/>
                </a:solidFill>
              </a:rPr>
              <a:t>字幕安全区（暂不显示）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2DBC341-EDFE-4BEE-962A-FE38F0A6B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667000"/>
            <a:ext cx="13525500" cy="742950"/>
          </a:xfrm>
          <a:prstGeom xmlns:a="http://schemas.openxmlformats.org/drawingml/2006/main" prst="roundRect">
            <a:avLst>
              <a:gd name="adj" fmla="val 25641"/>
            </a:avLst>
          </a:prstGeom>
          <a:solidFill xmlns:a="http://schemas.openxmlformats.org/drawingml/2006/main">
            <a:srgbClr val="0A2F4E"/>
          </a:solidFill>
          <a:ln xmlns:a="http://schemas.openxmlformats.org/drawingml/2006/main" w="19050">
            <a:solidFill>
              <a:srgbClr val="FFD66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A9C254D-E828-486B-A885-0000DEFCD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2762250"/>
            <a:ext cx="609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75" b="1">
                <a:solidFill>
                  <a:srgbClr val="FFD66F"/>
                </a:solidFill>
              </a:defRPr>
            </a:pPr>
            <a:r>
              <a:rPr sz="2175" b="1">
                <a:solidFill>
                  <a:srgbClr val="FFD66F"/>
                </a:solidFill>
              </a:rPr>
              <a:t>用户 / Agent 应用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FCE58E6-F8D1-4491-A793-EAED2F87D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762250"/>
            <a:ext cx="5143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575" b="0">
                <a:solidFill>
                  <a:srgbClr val="B8C4D2"/>
                </a:solidFill>
              </a:defRPr>
            </a:pPr>
            <a:r>
              <a:rPr sz="1575" b="0">
                <a:solidFill>
                  <a:srgbClr val="B8C4D2"/>
                </a:solidFill>
              </a:rPr>
              <a:t>任务从这里进入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3C39FCD-83F2-42FB-8714-92B1CCE6E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733800"/>
            <a:ext cx="13525500" cy="742950"/>
          </a:xfrm>
          <a:prstGeom xmlns:a="http://schemas.openxmlformats.org/drawingml/2006/main" prst="roundRect">
            <a:avLst>
              <a:gd name="adj" fmla="val 25641"/>
            </a:avLst>
          </a:prstGeom>
          <a:solidFill xmlns:a="http://schemas.openxmlformats.org/drawingml/2006/main">
            <a:srgbClr val="0A2F4E"/>
          </a:solidFill>
          <a:ln xmlns:a="http://schemas.openxmlformats.org/drawingml/2006/main" w="19050">
            <a:solidFill>
              <a:srgbClr val="8ED6F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8B8DF41-492C-4C76-A705-67B1043BD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3829050"/>
            <a:ext cx="609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75" b="1">
                <a:solidFill>
                  <a:srgbClr val="8ED6FF"/>
                </a:solidFill>
              </a:defRPr>
            </a:pPr>
            <a:r>
              <a:rPr sz="2175" b="1">
                <a:solidFill>
                  <a:srgbClr val="8ED6FF"/>
                </a:solidFill>
              </a:rPr>
              <a:t>ADK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AC44744-F94B-4C60-8246-95C3072BE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3829050"/>
            <a:ext cx="5143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575" b="0">
                <a:solidFill>
                  <a:srgbClr val="B8C4D2"/>
                </a:solidFill>
              </a:defRPr>
            </a:pPr>
            <a:r>
              <a:rPr sz="1575" b="0">
                <a:solidFill>
                  <a:srgbClr val="B8C4D2"/>
                </a:solidFill>
              </a:rPr>
              <a:t>状态 · 工作流 · 编排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9D2BBFA-0B15-41F7-8180-825A0510E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800600"/>
            <a:ext cx="13525500" cy="742950"/>
          </a:xfrm>
          <a:prstGeom xmlns:a="http://schemas.openxmlformats.org/drawingml/2006/main" prst="roundRect">
            <a:avLst>
              <a:gd name="adj" fmla="val 25641"/>
            </a:avLst>
          </a:prstGeom>
          <a:solidFill xmlns:a="http://schemas.openxmlformats.org/drawingml/2006/main">
            <a:srgbClr val="0A2F4E"/>
          </a:solidFill>
          <a:ln xmlns:a="http://schemas.openxmlformats.org/drawingml/2006/main" w="19050">
            <a:solidFill>
              <a:srgbClr val="8ED6F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8378FA6-6E67-4D91-8F97-3F4F98A6B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4895850"/>
            <a:ext cx="609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75" b="1">
                <a:solidFill>
                  <a:srgbClr val="8ED6FF"/>
                </a:solidFill>
              </a:defRPr>
            </a:pPr>
            <a:r>
              <a:rPr sz="2175" b="1">
                <a:solidFill>
                  <a:srgbClr val="8ED6FF"/>
                </a:solidFill>
              </a:rPr>
              <a:t>LLM + Tool Calling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7E448F4-8E0E-4ED8-8440-E47903C51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4895850"/>
            <a:ext cx="5143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575" b="0">
                <a:solidFill>
                  <a:srgbClr val="B8C4D2"/>
                </a:solidFill>
              </a:defRPr>
            </a:pPr>
            <a:r>
              <a:rPr sz="1575" b="0">
                <a:solidFill>
                  <a:srgbClr val="B8C4D2"/>
                </a:solidFill>
              </a:rPr>
              <a:t>模型决定何时使用能力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D50FB79-EF59-4555-8A0B-8D95B559D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867400"/>
            <a:ext cx="13525500" cy="742950"/>
          </a:xfrm>
          <a:prstGeom xmlns:a="http://schemas.openxmlformats.org/drawingml/2006/main" prst="roundRect">
            <a:avLst>
              <a:gd name="adj" fmla="val 25641"/>
            </a:avLst>
          </a:prstGeom>
          <a:solidFill xmlns:a="http://schemas.openxmlformats.org/drawingml/2006/main">
            <a:srgbClr val="0A2F4E"/>
          </a:solidFill>
          <a:ln xmlns:a="http://schemas.openxmlformats.org/drawingml/2006/main" w="19050">
            <a:solidFill>
              <a:srgbClr val="8ED6FF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8FBA880-E57A-4006-A63D-A53CAB6DD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5962650"/>
            <a:ext cx="609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75" b="1">
                <a:solidFill>
                  <a:srgbClr val="8ED6FF"/>
                </a:solidFill>
              </a:defRPr>
            </a:pPr>
            <a:r>
              <a:rPr sz="2175" b="1">
                <a:solidFill>
                  <a:srgbClr val="8ED6FF"/>
                </a:solidFill>
              </a:rPr>
              <a:t>Function Calling / MCP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F76C7D1-EEBB-48AD-A7BC-8B1B6890A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5962650"/>
            <a:ext cx="5143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575" b="0">
                <a:solidFill>
                  <a:srgbClr val="B8C4D2"/>
                </a:solidFill>
              </a:defRPr>
            </a:pPr>
            <a:r>
              <a:rPr sz="1575" b="0">
                <a:solidFill>
                  <a:srgbClr val="B8C4D2"/>
                </a:solidFill>
              </a:rPr>
              <a:t>工具机制与标准化连接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F15F578-652C-415F-92E9-213CEA463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6934200"/>
            <a:ext cx="13525500" cy="742950"/>
          </a:xfrm>
          <a:prstGeom xmlns:a="http://schemas.openxmlformats.org/drawingml/2006/main" prst="roundRect">
            <a:avLst>
              <a:gd name="adj" fmla="val 25641"/>
            </a:avLst>
          </a:prstGeom>
          <a:solidFill xmlns:a="http://schemas.openxmlformats.org/drawingml/2006/main">
            <a:srgbClr val="0A2F4E"/>
          </a:solidFill>
          <a:ln xmlns:a="http://schemas.openxmlformats.org/drawingml/2006/main" w="19050">
            <a:solidFill>
              <a:srgbClr val="A0E6BF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0C113C2-60D9-40FA-A257-97D29298D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7029450"/>
            <a:ext cx="609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75" b="1">
                <a:solidFill>
                  <a:srgbClr val="A0E6BF"/>
                </a:solidFill>
              </a:defRPr>
            </a:pPr>
            <a:r>
              <a:rPr sz="2175" b="1">
                <a:solidFill>
                  <a:srgbClr val="A0E6BF"/>
                </a:solidFill>
              </a:rPr>
              <a:t>API · SDK · CLI · 外部系统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BCE874F-C87B-4554-B904-BD6F54D7B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7029450"/>
            <a:ext cx="5143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575" b="0">
                <a:solidFill>
                  <a:srgbClr val="B8C4D2"/>
                </a:solidFill>
              </a:defRPr>
            </a:pPr>
            <a:r>
              <a:rPr sz="1575" b="0">
                <a:solidFill>
                  <a:srgbClr val="B8C4D2"/>
                </a:solidFill>
              </a:rPr>
              <a:t>能力真正落地的地方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60EC62F-1111-45E2-A158-77970F0E7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8096250"/>
            <a:ext cx="914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100" b="1">
                <a:solidFill>
                  <a:srgbClr val="F7FBFF"/>
                </a:solidFill>
              </a:defRPr>
            </a:pPr>
            <a:r>
              <a:rPr sz="2100" b="1">
                <a:solidFill>
                  <a:srgbClr val="F7FBFF"/>
                </a:solidFill>
              </a:rPr>
              <a:t>从上到下：组织 → 决策 → 连接 → 执行</a:t>
            </a:r>
          </a:p>
        </p:txBody>
      </p:sp>
    </p:spTree>
    <p:extLst>
      <p:ext uri="{BB962C8B-B14F-4D97-AF65-F5344CB8AC3E}">
        <p14:creationId xmlns:p14="http://schemas.microsoft.com/office/powerpoint/2010/main" val="76920233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618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glow-top-left-3">
            <a:extLst xmlns:a="http://schemas.openxmlformats.org/drawingml/2006/main">
              <a:ext uri="{FF2B5EF4-FFF2-40B4-BE49-F238E27FC236}">
                <a16:creationId xmlns:a16="http://schemas.microsoft.com/office/drawing/2014/main" id="{F2F05665-32F5-4052-BEE1-E09ACBF2A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095500" y="-2667000"/>
            <a:ext cx="6858000" cy="685800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2D7CC4">
                  <a:alpha val="30000"/>
                </a:srgbClr>
              </a:gs>
              <a:gs pos="72000">
                <a:srgbClr val="2D7CC4">
                  <a:alpha val="0"/>
                </a:srgbClr>
              </a:gs>
            </a:gsLst>
            <a:path path="shape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glow-bottom-right-3">
            <a:extLst xmlns:a="http://schemas.openxmlformats.org/drawingml/2006/main">
              <a:ext uri="{FF2B5EF4-FFF2-40B4-BE49-F238E27FC236}">
                <a16:creationId xmlns:a16="http://schemas.microsoft.com/office/drawing/2014/main" id="{6678339B-1E81-4062-A813-06C04AA94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7239000"/>
            <a:ext cx="6477000" cy="647700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2C65A2">
                  <a:alpha val="24000"/>
                </a:srgbClr>
              </a:gs>
              <a:gs pos="74000">
                <a:srgbClr val="2C65A2">
                  <a:alpha val="0"/>
                </a:srgbClr>
              </a:gs>
            </a:gsLst>
            <a:path path="shape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AD6830-18EC-40A6-9B48-D0F0F37BD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0" cy="10287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23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30C14E-EF9A-4A83-B741-F54CFDFB9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0" cy="10287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23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7A3D6D-EFC7-4A50-B3E5-1E1CD78F7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0" cy="10287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23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7618C3-8C86-4F95-9506-7981A8756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0" cy="10287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23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82CBA3-8833-4F95-8953-C346E2E96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0" cy="10287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23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3A5BD8-9C99-4400-9FBE-0D1CF8454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0" cy="10287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23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46F820-F713-47EE-B66D-145176F63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0" cy="10287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23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E24CDD-4687-4249-86D2-CD4F262B1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0" cy="10287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23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D1F723-3C32-4B86-BFB8-3831888F3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0"/>
            <a:ext cx="0" cy="10287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23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5C1B0A-93EE-4D19-8800-3EB813463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0"/>
            <a:ext cx="0" cy="10287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23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10A120-8131-406F-BA38-4814A2C09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0" y="0"/>
            <a:ext cx="0" cy="10287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23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6A10554-C6E7-43B0-B870-21EFDA444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0" y="0"/>
            <a:ext cx="0" cy="10287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23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9FDB65F-F677-4A5F-9CCC-3DEB5C123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0" y="0"/>
            <a:ext cx="0" cy="10287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23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7947BDA-B2BD-4437-A98C-954CC2EF3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23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6E4D696-413B-4921-88E7-018D44FC6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0"/>
            <a:ext cx="1828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23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D9215B1-E4E4-4CC6-931D-BBE48E0EC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828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23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AA53E27-9189-4B3D-92E7-4C42FA08F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828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23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DFAF763-C01C-4280-A879-1A33B92E4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828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23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F32202F-8C4D-4337-9286-5D6A07619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00"/>
            <a:ext cx="1828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23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08B365D-DC69-47C9-B4C8-D3709D23E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144000"/>
            <a:ext cx="1828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236"/>
            </a:solidFill>
            <a:prstDash val="solid"/>
          </a:ln>
        </p:spPr>
      </p:sp>
      <p:sp>
        <p:nvSpPr>
          <p:cNvPr id="23" name="eyebrow-3">
            <a:extLst xmlns:a="http://schemas.openxmlformats.org/drawingml/2006/main">
              <a:ext uri="{FF2B5EF4-FFF2-40B4-BE49-F238E27FC236}">
                <a16:creationId xmlns:a16="http://schemas.microsoft.com/office/drawing/2014/main" id="{16C1C820-E032-42D3-A2A8-E49EEB1F5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3850"/>
            <a:ext cx="666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8ED6FF"/>
                </a:solidFill>
              </a:defRPr>
            </a:pPr>
            <a:r>
              <a:rPr sz="1350" b="1">
                <a:solidFill>
                  <a:srgbClr val="8ED6FF"/>
                </a:solidFill>
              </a:rPr>
              <a:t>AGENT ARCHITECTURE / COURSE LOOP</a:t>
            </a:r>
          </a:p>
        </p:txBody>
      </p:sp>
      <p:sp>
        <p:nvSpPr>
          <p:cNvPr id="24" name="label-3">
            <a:extLst xmlns:a="http://schemas.openxmlformats.org/drawingml/2006/main">
              <a:ext uri="{FF2B5EF4-FFF2-40B4-BE49-F238E27FC236}">
                <a16:creationId xmlns:a16="http://schemas.microsoft.com/office/drawing/2014/main" id="{164211A2-53F1-4247-9ECA-183435BEC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0" y="3238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350" b="1">
                <a:solidFill>
                  <a:srgbClr val="FFD66F"/>
                </a:solidFill>
              </a:defRPr>
            </a:pPr>
            <a:r>
              <a:rPr sz="1350" b="1">
                <a:solidFill>
                  <a:srgbClr val="FFD66F"/>
                </a:solidFill>
              </a:rPr>
              <a:t>ACCESS LAYER / 00:40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3979248-A851-4F22-8D1A-F669DCBBA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76300"/>
            <a:ext cx="1684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B4058"/>
            </a:solidFill>
            <a:prstDash val="solid"/>
          </a:ln>
        </p:spPr>
      </p:sp>
      <p:sp>
        <p:nvSpPr>
          <p:cNvPr id="26" name="title-3">
            <a:extLst xmlns:a="http://schemas.openxmlformats.org/drawingml/2006/main">
              <a:ext uri="{FF2B5EF4-FFF2-40B4-BE49-F238E27FC236}">
                <a16:creationId xmlns:a16="http://schemas.microsoft.com/office/drawing/2014/main" id="{F1824514-51FC-4394-BEAC-635BE592C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181100"/>
            <a:ext cx="15240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450" b="1">
                <a:solidFill>
                  <a:srgbClr val="F7FBFF"/>
                </a:solidFill>
              </a:defRPr>
            </a:pPr>
            <a:r>
              <a:rPr sz="3450" b="1">
                <a:solidFill>
                  <a:srgbClr val="F7FBFF"/>
                </a:solidFill>
              </a:rPr>
              <a:t>API、SDK、CLI：软件怎样使用能力</a:t>
            </a:r>
          </a:p>
        </p:txBody>
      </p:sp>
      <p:sp>
        <p:nvSpPr>
          <p:cNvPr id="27" name="subtitle-safe-band-3">
            <a:extLst xmlns:a="http://schemas.openxmlformats.org/drawingml/2006/main">
              <a:ext uri="{FF2B5EF4-FFF2-40B4-BE49-F238E27FC236}">
                <a16:creationId xmlns:a16="http://schemas.microsoft.com/office/drawing/2014/main" id="{560C72BE-026F-4755-AC59-25B3ACAB3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572500"/>
            <a:ext cx="182880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33BDA45-D7D4-4292-9391-CA0E92BA5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572500"/>
            <a:ext cx="1684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04B6A"/>
            </a:solidFill>
            <a:prstDash val="solid"/>
          </a:ln>
        </p:spPr>
      </p:sp>
      <p:sp>
        <p:nvSpPr>
          <p:cNvPr id="29" name="safe-note-3">
            <a:extLst xmlns:a="http://schemas.openxmlformats.org/drawingml/2006/main">
              <a:ext uri="{FF2B5EF4-FFF2-40B4-BE49-F238E27FC236}">
                <a16:creationId xmlns:a16="http://schemas.microsoft.com/office/drawing/2014/main" id="{CB83A5D7-FC40-40AD-AD61-BAF90CCEC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0" y="8858250"/>
            <a:ext cx="295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050" b="0">
                <a:solidFill>
                  <a:srgbClr val="52718A"/>
                </a:solidFill>
              </a:defRPr>
            </a:pPr>
            <a:r>
              <a:rPr sz="1050" b="0">
                <a:solidFill>
                  <a:srgbClr val="52718A"/>
                </a:solidFill>
              </a:rPr>
              <a:t>字幕安全区（暂不显示）</a:t>
            </a:r>
          </a:p>
        </p:txBody>
      </p:sp>
      <p:sp>
        <p:nvSpPr>
          <p:cNvPr id="30" name="api">
            <a:extLst xmlns:a="http://schemas.openxmlformats.org/drawingml/2006/main">
              <a:ext uri="{FF2B5EF4-FFF2-40B4-BE49-F238E27FC236}">
                <a16:creationId xmlns:a16="http://schemas.microsoft.com/office/drawing/2014/main" id="{A409B20F-0069-4EE3-859B-90493299F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667125"/>
            <a:ext cx="4095750" cy="20955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0A2F4E"/>
          </a:solidFill>
          <a:ln xmlns:a="http://schemas.openxmlformats.org/drawingml/2006/main" w="19050">
            <a:solidFill>
              <a:srgbClr val="8ED6FF"/>
            </a:solidFill>
            <a:prstDash val="solid"/>
          </a:ln>
        </p:spPr>
      </p:sp>
      <p:sp>
        <p:nvSpPr>
          <p:cNvPr id="31" name="api-title">
            <a:extLst xmlns:a="http://schemas.openxmlformats.org/drawingml/2006/main">
              <a:ext uri="{FF2B5EF4-FFF2-40B4-BE49-F238E27FC236}">
                <a16:creationId xmlns:a16="http://schemas.microsoft.com/office/drawing/2014/main" id="{262D8FEB-5630-48F9-90F6-0A954F3D5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876675"/>
            <a:ext cx="3562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8ED6FF"/>
                </a:solidFill>
              </a:defRPr>
            </a:pPr>
            <a:r>
              <a:rPr sz="2100" b="1">
                <a:solidFill>
                  <a:srgbClr val="8ED6FF"/>
                </a:solidFill>
              </a:rPr>
              <a:t>API</a:t>
            </a:r>
          </a:p>
        </p:txBody>
      </p:sp>
      <p:sp>
        <p:nvSpPr>
          <p:cNvPr id="32" name="api-copy">
            <a:extLst xmlns:a="http://schemas.openxmlformats.org/drawingml/2006/main">
              <a:ext uri="{FF2B5EF4-FFF2-40B4-BE49-F238E27FC236}">
                <a16:creationId xmlns:a16="http://schemas.microsoft.com/office/drawing/2014/main" id="{A87F6783-BE84-45D4-BCFB-26304A340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333875"/>
            <a:ext cx="35623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950" b="0">
                <a:solidFill>
                  <a:srgbClr val="B8C4D2"/>
                </a:solidFill>
              </a:defRPr>
            </a:pPr>
            <a:r>
              <a:rPr sz="1950" b="0">
                <a:solidFill>
                  <a:srgbClr val="B8C4D2"/>
                </a:solidFill>
              </a:rPr>
              <a:t>软件之间的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950" b="0">
                <a:solidFill>
                  <a:srgbClr val="B8C4D2"/>
                </a:solidFill>
              </a:defRPr>
            </a:pPr>
            <a:r>
              <a:rPr sz="1950" b="0">
                <a:solidFill>
                  <a:srgbClr val="B8C4D2"/>
                </a:solidFill>
              </a:rPr>
              <a:t>能力契约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4D20791-7B85-42C5-AD67-B71D2CDA5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4514850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550" b="1">
                <a:solidFill>
                  <a:srgbClr val="8ED6FF"/>
                </a:solidFill>
              </a:defRPr>
            </a:pPr>
            <a:r>
              <a:rPr sz="2550" b="1">
                <a:solidFill>
                  <a:srgbClr val="8ED6FF"/>
                </a:solidFill>
              </a:rPr>
              <a:t>→</a:t>
            </a:r>
          </a:p>
        </p:txBody>
      </p:sp>
      <p:sp>
        <p:nvSpPr>
          <p:cNvPr id="34" name="sdk">
            <a:extLst xmlns:a="http://schemas.openxmlformats.org/drawingml/2006/main">
              <a:ext uri="{FF2B5EF4-FFF2-40B4-BE49-F238E27FC236}">
                <a16:creationId xmlns:a16="http://schemas.microsoft.com/office/drawing/2014/main" id="{800D3A64-33FD-4B16-A332-047D3B365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667125"/>
            <a:ext cx="4095750" cy="20955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0A2F4E"/>
          </a:solidFill>
          <a:ln xmlns:a="http://schemas.openxmlformats.org/drawingml/2006/main" w="19050">
            <a:solidFill>
              <a:srgbClr val="FFD66F"/>
            </a:solidFill>
            <a:prstDash val="solid"/>
          </a:ln>
        </p:spPr>
      </p:sp>
      <p:sp>
        <p:nvSpPr>
          <p:cNvPr id="35" name="sdk-title">
            <a:extLst xmlns:a="http://schemas.openxmlformats.org/drawingml/2006/main">
              <a:ext uri="{FF2B5EF4-FFF2-40B4-BE49-F238E27FC236}">
                <a16:creationId xmlns:a16="http://schemas.microsoft.com/office/drawing/2014/main" id="{EB3E940C-1498-4DA4-AC9D-769980F32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3876675"/>
            <a:ext cx="3562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FFD66F"/>
                </a:solidFill>
              </a:defRPr>
            </a:pPr>
            <a:r>
              <a:rPr sz="2100" b="1">
                <a:solidFill>
                  <a:srgbClr val="FFD66F"/>
                </a:solidFill>
              </a:rPr>
              <a:t>SDK</a:t>
            </a:r>
          </a:p>
        </p:txBody>
      </p:sp>
      <p:sp>
        <p:nvSpPr>
          <p:cNvPr id="36" name="sdk-copy">
            <a:extLst xmlns:a="http://schemas.openxmlformats.org/drawingml/2006/main">
              <a:ext uri="{FF2B5EF4-FFF2-40B4-BE49-F238E27FC236}">
                <a16:creationId xmlns:a16="http://schemas.microsoft.com/office/drawing/2014/main" id="{DB51A99B-2E68-4B8F-88BD-5A2CDC8FF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4333875"/>
            <a:ext cx="35623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75" b="0">
                <a:solidFill>
                  <a:srgbClr val="B8C4D2"/>
                </a:solidFill>
              </a:defRPr>
            </a:pPr>
            <a:r>
              <a:rPr sz="1875" b="0">
                <a:solidFill>
                  <a:srgbClr val="B8C4D2"/>
                </a:solidFill>
              </a:rPr>
              <a:t>把认证、重试和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875" b="0">
                <a:solidFill>
                  <a:srgbClr val="B8C4D2"/>
                </a:solidFill>
              </a:defRPr>
            </a:pPr>
            <a:r>
              <a:rPr sz="1875" b="0">
                <a:solidFill>
                  <a:srgbClr val="B8C4D2"/>
                </a:solidFill>
              </a:rPr>
              <a:t>错误处理封装起来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E37296D-DCB9-411D-BFDF-7AB00BC7B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4514850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550" b="1">
                <a:solidFill>
                  <a:srgbClr val="8ED6FF"/>
                </a:solidFill>
              </a:defRPr>
            </a:pPr>
            <a:r>
              <a:rPr sz="2550" b="1">
                <a:solidFill>
                  <a:srgbClr val="8ED6FF"/>
                </a:solidFill>
              </a:rPr>
              <a:t>→</a:t>
            </a:r>
          </a:p>
        </p:txBody>
      </p:sp>
      <p:sp>
        <p:nvSpPr>
          <p:cNvPr id="38" name="cli">
            <a:extLst xmlns:a="http://schemas.openxmlformats.org/drawingml/2006/main">
              <a:ext uri="{FF2B5EF4-FFF2-40B4-BE49-F238E27FC236}">
                <a16:creationId xmlns:a16="http://schemas.microsoft.com/office/drawing/2014/main" id="{06137F46-97DC-4245-B378-9B223DF4D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3667125"/>
            <a:ext cx="4095750" cy="20955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0A2F4E"/>
          </a:solidFill>
          <a:ln xmlns:a="http://schemas.openxmlformats.org/drawingml/2006/main" w="19050">
            <a:solidFill>
              <a:srgbClr val="A0E6BF"/>
            </a:solidFill>
            <a:prstDash val="solid"/>
          </a:ln>
        </p:spPr>
      </p:sp>
      <p:sp>
        <p:nvSpPr>
          <p:cNvPr id="39" name="cli-title">
            <a:extLst xmlns:a="http://schemas.openxmlformats.org/drawingml/2006/main">
              <a:ext uri="{FF2B5EF4-FFF2-40B4-BE49-F238E27FC236}">
                <a16:creationId xmlns:a16="http://schemas.microsoft.com/office/drawing/2014/main" id="{C09CB16D-987A-4D6E-BE40-25C421DD9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25450" y="3876675"/>
            <a:ext cx="3562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A0E6BF"/>
                </a:solidFill>
              </a:defRPr>
            </a:pPr>
            <a:r>
              <a:rPr sz="2100" b="1">
                <a:solidFill>
                  <a:srgbClr val="A0E6BF"/>
                </a:solidFill>
              </a:rPr>
              <a:t>CLI</a:t>
            </a:r>
          </a:p>
        </p:txBody>
      </p:sp>
      <p:sp>
        <p:nvSpPr>
          <p:cNvPr id="40" name="cli-copy">
            <a:extLst xmlns:a="http://schemas.openxmlformats.org/drawingml/2006/main">
              <a:ext uri="{FF2B5EF4-FFF2-40B4-BE49-F238E27FC236}">
                <a16:creationId xmlns:a16="http://schemas.microsoft.com/office/drawing/2014/main" id="{983BA375-932E-44BC-9098-356F74083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25450" y="4333875"/>
            <a:ext cx="35623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75" b="0">
                <a:solidFill>
                  <a:srgbClr val="B8C4D2"/>
                </a:solidFill>
              </a:defRPr>
            </a:pPr>
            <a:r>
              <a:rPr sz="1875" b="0">
                <a:solidFill>
                  <a:srgbClr val="B8C4D2"/>
                </a:solidFill>
              </a:rPr>
              <a:t>人、脚本或 Agent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875" b="0">
                <a:solidFill>
                  <a:srgbClr val="B8C4D2"/>
                </a:solidFill>
              </a:defRPr>
            </a:pPr>
            <a:r>
              <a:rPr sz="1875" b="0">
                <a:solidFill>
                  <a:srgbClr val="B8C4D2"/>
                </a:solidFill>
              </a:rPr>
              <a:t>的终端入口</a:t>
            </a:r>
          </a:p>
        </p:txBody>
      </p:sp>
      <p:sp>
        <p:nvSpPr>
          <p:cNvPr id="41" name="access-summary">
            <a:extLst xmlns:a="http://schemas.openxmlformats.org/drawingml/2006/main">
              <a:ext uri="{FF2B5EF4-FFF2-40B4-BE49-F238E27FC236}">
                <a16:creationId xmlns:a16="http://schemas.microsoft.com/office/drawing/2014/main" id="{ADC8B2FD-2659-4A31-B61C-EA23A834B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6572250"/>
            <a:ext cx="11049000" cy="1095375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0A2F4E"/>
          </a:solidFill>
          <a:ln xmlns:a="http://schemas.openxmlformats.org/drawingml/2006/main" w="19050">
            <a:solidFill>
              <a:srgbClr val="8ED6FF"/>
            </a:solidFill>
            <a:prstDash val="solid"/>
          </a:ln>
        </p:spPr>
      </p:sp>
      <p:sp>
        <p:nvSpPr>
          <p:cNvPr id="42" name="access-summary-title">
            <a:extLst xmlns:a="http://schemas.openxmlformats.org/drawingml/2006/main">
              <a:ext uri="{FF2B5EF4-FFF2-40B4-BE49-F238E27FC236}">
                <a16:creationId xmlns:a16="http://schemas.microsoft.com/office/drawing/2014/main" id="{52DDC9E1-D170-4DBC-91EC-BC20DBE09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6781800"/>
            <a:ext cx="10515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250" b="1">
                <a:solidFill>
                  <a:srgbClr val="F7FBFF"/>
                </a:solidFill>
              </a:defRPr>
            </a:pPr>
            <a:r>
              <a:rPr sz="2250" b="1">
                <a:solidFill>
                  <a:srgbClr val="F7FBFF"/>
                </a:solidFill>
              </a:rPr>
              <a:t>同一个服务的三种入口</a:t>
            </a:r>
          </a:p>
        </p:txBody>
      </p:sp>
      <p:sp>
        <p:nvSpPr>
          <p:cNvPr id="43" name="access-summary-copy">
            <a:extLst xmlns:a="http://schemas.openxmlformats.org/drawingml/2006/main">
              <a:ext uri="{FF2B5EF4-FFF2-40B4-BE49-F238E27FC236}">
                <a16:creationId xmlns:a16="http://schemas.microsoft.com/office/drawing/2014/main" id="{65288E50-A5CE-4420-9B32-D919A2AD6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7239000"/>
            <a:ext cx="105156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650" b="0">
                <a:solidFill>
                  <a:srgbClr val="B8C4D2"/>
                </a:solidFill>
              </a:defRPr>
            </a:pPr>
            <a:r>
              <a:rPr sz="1650" b="0">
                <a:solidFill>
                  <a:srgbClr val="B8C4D2"/>
                </a:solidFill>
              </a:rPr>
              <a:t>API 面向程序，SDK 面向开发者，CLI 面向终端操作。</a:t>
            </a:r>
          </a:p>
        </p:txBody>
      </p:sp>
    </p:spTree>
    <p:extLst>
      <p:ext uri="{BB962C8B-B14F-4D97-AF65-F5344CB8AC3E}">
        <p14:creationId xmlns:p14="http://schemas.microsoft.com/office/powerpoint/2010/main" val="197343444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618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glow-top-left-4">
            <a:extLst xmlns:a="http://schemas.openxmlformats.org/drawingml/2006/main">
              <a:ext uri="{FF2B5EF4-FFF2-40B4-BE49-F238E27FC236}">
                <a16:creationId xmlns:a16="http://schemas.microsoft.com/office/drawing/2014/main" id="{1FA28146-33C4-4A91-94C6-F3B625293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095500" y="-2667000"/>
            <a:ext cx="6858000" cy="685800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2D7CC4">
                  <a:alpha val="30000"/>
                </a:srgbClr>
              </a:gs>
              <a:gs pos="72000">
                <a:srgbClr val="2D7CC4">
                  <a:alpha val="0"/>
                </a:srgbClr>
              </a:gs>
            </a:gsLst>
            <a:path path="shape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glow-bottom-right-4">
            <a:extLst xmlns:a="http://schemas.openxmlformats.org/drawingml/2006/main">
              <a:ext uri="{FF2B5EF4-FFF2-40B4-BE49-F238E27FC236}">
                <a16:creationId xmlns:a16="http://schemas.microsoft.com/office/drawing/2014/main" id="{9F2DB768-F201-45CE-A39F-EBAB3C220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7239000"/>
            <a:ext cx="6477000" cy="647700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2C65A2">
                  <a:alpha val="24000"/>
                </a:srgbClr>
              </a:gs>
              <a:gs pos="74000">
                <a:srgbClr val="2C65A2">
                  <a:alpha val="0"/>
                </a:srgbClr>
              </a:gs>
            </a:gsLst>
            <a:path path="shape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05F70E-311C-4512-A2CC-5FDEB923B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0" cy="10287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23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FBEA37-6985-47C2-8459-9506FFC3D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0" cy="10287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23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E614C3-ACFE-4470-BB0A-99C0CB477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0" cy="10287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23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C24217-5905-477B-A397-863B9AA3B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0" cy="10287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23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83E441-BF00-49C3-852F-AF2791F0E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0" cy="10287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23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3FF94C-14E2-41C8-A7A0-E4B009C3B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0" cy="10287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23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38C97F-7087-4CF5-B9A2-0425E42BC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0" cy="10287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23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175DD9-CC10-4290-8523-ED4F1D5E6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0" cy="10287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23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E9DB8C-488C-44DF-AD19-0A542AA2A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0"/>
            <a:ext cx="0" cy="10287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23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CC6626-118C-4A58-97DD-E8AA36FEF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0"/>
            <a:ext cx="0" cy="10287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23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D56C18-D496-48BA-B003-23218C6F1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0" y="0"/>
            <a:ext cx="0" cy="10287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23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A9124B-FD1C-4EBE-9F25-CB94A81E4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0" y="0"/>
            <a:ext cx="0" cy="10287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23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DABC337-4E1C-444F-BEE0-0FA91D3C6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0" y="0"/>
            <a:ext cx="0" cy="10287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23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4294AF5-3B7D-4D80-90D2-34B529A25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23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5314562-2923-43B4-99B6-317287122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0"/>
            <a:ext cx="1828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23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F75C790-C149-4229-A8EC-CD59D333D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828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23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35E1BBB-4255-4DFF-8BC8-EBD6787DF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828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23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AA6153C-8A44-47A3-8D91-061F64124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828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23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B6CEFC9-52B0-4C51-97A9-9858C2802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00"/>
            <a:ext cx="1828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23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E95EF89-126D-4367-9A45-6B8B94AD5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144000"/>
            <a:ext cx="1828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236"/>
            </a:solidFill>
            <a:prstDash val="solid"/>
          </a:ln>
        </p:spPr>
      </p:sp>
      <p:sp>
        <p:nvSpPr>
          <p:cNvPr id="23" name="eyebrow-4">
            <a:extLst xmlns:a="http://schemas.openxmlformats.org/drawingml/2006/main">
              <a:ext uri="{FF2B5EF4-FFF2-40B4-BE49-F238E27FC236}">
                <a16:creationId xmlns:a16="http://schemas.microsoft.com/office/drawing/2014/main" id="{6C7DDE91-986B-47DA-9537-74A582B50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3850"/>
            <a:ext cx="666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8ED6FF"/>
                </a:solidFill>
              </a:defRPr>
            </a:pPr>
            <a:r>
              <a:rPr sz="1350" b="1">
                <a:solidFill>
                  <a:srgbClr val="8ED6FF"/>
                </a:solidFill>
              </a:rPr>
              <a:t>AGENT ARCHITECTURE / COURSE LOOP</a:t>
            </a:r>
          </a:p>
        </p:txBody>
      </p:sp>
      <p:sp>
        <p:nvSpPr>
          <p:cNvPr id="24" name="label-4">
            <a:extLst xmlns:a="http://schemas.openxmlformats.org/drawingml/2006/main">
              <a:ext uri="{FF2B5EF4-FFF2-40B4-BE49-F238E27FC236}">
                <a16:creationId xmlns:a16="http://schemas.microsoft.com/office/drawing/2014/main" id="{7F1B18F1-8DC1-4529-AD7F-880E00ADE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0" y="3238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350" b="1">
                <a:solidFill>
                  <a:srgbClr val="FFD66F"/>
                </a:solidFill>
              </a:defRPr>
            </a:pPr>
            <a:r>
              <a:rPr sz="1350" b="1">
                <a:solidFill>
                  <a:srgbClr val="FFD66F"/>
                </a:solidFill>
              </a:rPr>
              <a:t>MODEL TOOL LAYER / 01:03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6A1145F-67E7-4264-A9EA-10F0F8EED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76300"/>
            <a:ext cx="1684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B4058"/>
            </a:solidFill>
            <a:prstDash val="solid"/>
          </a:ln>
        </p:spPr>
      </p:sp>
      <p:sp>
        <p:nvSpPr>
          <p:cNvPr id="26" name="title-4">
            <a:extLst xmlns:a="http://schemas.openxmlformats.org/drawingml/2006/main">
              <a:ext uri="{FF2B5EF4-FFF2-40B4-BE49-F238E27FC236}">
                <a16:creationId xmlns:a16="http://schemas.microsoft.com/office/drawing/2014/main" id="{528247BF-FBB5-49F0-9C5A-4D450AC5C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181100"/>
            <a:ext cx="15240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450" b="1">
                <a:solidFill>
                  <a:srgbClr val="F7FBFF"/>
                </a:solidFill>
              </a:defRPr>
            </a:pPr>
            <a:r>
              <a:rPr sz="3450" b="1">
                <a:solidFill>
                  <a:srgbClr val="F7FBFF"/>
                </a:solidFill>
              </a:rPr>
              <a:t>Function Calling 是具体机制，Tool Calling 是总机制</a:t>
            </a:r>
          </a:p>
        </p:txBody>
      </p:sp>
      <p:sp>
        <p:nvSpPr>
          <p:cNvPr id="27" name="subtitle-safe-band-4">
            <a:extLst xmlns:a="http://schemas.openxmlformats.org/drawingml/2006/main">
              <a:ext uri="{FF2B5EF4-FFF2-40B4-BE49-F238E27FC236}">
                <a16:creationId xmlns:a16="http://schemas.microsoft.com/office/drawing/2014/main" id="{304A3655-54FF-4EC0-B687-559855DE0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572500"/>
            <a:ext cx="182880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2378DBA-6FEB-4D21-BDF0-87415A330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572500"/>
            <a:ext cx="1684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04B6A"/>
            </a:solidFill>
            <a:prstDash val="solid"/>
          </a:ln>
        </p:spPr>
      </p:sp>
      <p:sp>
        <p:nvSpPr>
          <p:cNvPr id="29" name="safe-note-4">
            <a:extLst xmlns:a="http://schemas.openxmlformats.org/drawingml/2006/main">
              <a:ext uri="{FF2B5EF4-FFF2-40B4-BE49-F238E27FC236}">
                <a16:creationId xmlns:a16="http://schemas.microsoft.com/office/drawing/2014/main" id="{D96E77C2-7773-4F9F-8175-4B39F0279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0" y="8858250"/>
            <a:ext cx="295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050" b="0">
                <a:solidFill>
                  <a:srgbClr val="52718A"/>
                </a:solidFill>
              </a:defRPr>
            </a:pPr>
            <a:r>
              <a:rPr sz="1050" b="0">
                <a:solidFill>
                  <a:srgbClr val="52718A"/>
                </a:solidFill>
              </a:rPr>
              <a:t>字幕安全区（暂不显示）</a:t>
            </a:r>
          </a:p>
        </p:txBody>
      </p:sp>
      <p:sp>
        <p:nvSpPr>
          <p:cNvPr id="30" name="llm">
            <a:extLst xmlns:a="http://schemas.openxmlformats.org/drawingml/2006/main">
              <a:ext uri="{FF2B5EF4-FFF2-40B4-BE49-F238E27FC236}">
                <a16:creationId xmlns:a16="http://schemas.microsoft.com/office/drawing/2014/main" id="{19B2D2FD-108E-46CD-8351-E3C5DE8CC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619500"/>
            <a:ext cx="2952750" cy="17145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0A2F4E"/>
          </a:solidFill>
          <a:ln xmlns:a="http://schemas.openxmlformats.org/drawingml/2006/main" w="19050">
            <a:solidFill>
              <a:srgbClr val="FFD66F"/>
            </a:solidFill>
            <a:prstDash val="solid"/>
          </a:ln>
        </p:spPr>
      </p:sp>
      <p:sp>
        <p:nvSpPr>
          <p:cNvPr id="31" name="llm-title">
            <a:extLst xmlns:a="http://schemas.openxmlformats.org/drawingml/2006/main">
              <a:ext uri="{FF2B5EF4-FFF2-40B4-BE49-F238E27FC236}">
                <a16:creationId xmlns:a16="http://schemas.microsoft.com/office/drawing/2014/main" id="{59E5C262-A807-4792-AA5C-32016A5C8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829050"/>
            <a:ext cx="2419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325" b="1">
                <a:solidFill>
                  <a:srgbClr val="FFD66F"/>
                </a:solidFill>
              </a:defRPr>
            </a:pPr>
            <a:r>
              <a:rPr sz="2325" b="1">
                <a:solidFill>
                  <a:srgbClr val="FFD66F"/>
                </a:solidFill>
              </a:rPr>
              <a:t>LLM</a:t>
            </a:r>
          </a:p>
        </p:txBody>
      </p:sp>
      <p:sp>
        <p:nvSpPr>
          <p:cNvPr id="32" name="llm-copy">
            <a:extLst xmlns:a="http://schemas.openxmlformats.org/drawingml/2006/main">
              <a:ext uri="{FF2B5EF4-FFF2-40B4-BE49-F238E27FC236}">
                <a16:creationId xmlns:a16="http://schemas.microsoft.com/office/drawing/2014/main" id="{BDFF492E-2D46-4355-8F58-6FB2A5F1F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286250"/>
            <a:ext cx="24193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0">
                <a:solidFill>
                  <a:srgbClr val="B8C4D2"/>
                </a:solidFill>
              </a:defRPr>
            </a:pPr>
            <a:r>
              <a:rPr sz="1800" b="0">
                <a:solidFill>
                  <a:srgbClr val="B8C4D2"/>
                </a:solidFill>
              </a:rPr>
              <a:t>提出调用请求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BA00489-CB6D-42F2-B658-A863560CC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086225"/>
            <a:ext cx="123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550" b="1">
                <a:solidFill>
                  <a:srgbClr val="8ED6FF"/>
                </a:solidFill>
              </a:defRPr>
            </a:pPr>
            <a:r>
              <a:rPr sz="2550" b="1">
                <a:solidFill>
                  <a:srgbClr val="8ED6FF"/>
                </a:solidFill>
              </a:rPr>
              <a:t>→</a:t>
            </a:r>
          </a:p>
        </p:txBody>
      </p:sp>
      <p:sp>
        <p:nvSpPr>
          <p:cNvPr id="34" name="request">
            <a:extLst xmlns:a="http://schemas.openxmlformats.org/drawingml/2006/main">
              <a:ext uri="{FF2B5EF4-FFF2-40B4-BE49-F238E27FC236}">
                <a16:creationId xmlns:a16="http://schemas.microsoft.com/office/drawing/2014/main" id="{9FD6C795-BF50-487F-9296-5BD1320BA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429000"/>
            <a:ext cx="4095750" cy="20955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0A2F4E"/>
          </a:solidFill>
          <a:ln xmlns:a="http://schemas.openxmlformats.org/drawingml/2006/main" w="19050">
            <a:solidFill>
              <a:srgbClr val="8ED6FF"/>
            </a:solidFill>
            <a:prstDash val="solid"/>
          </a:ln>
        </p:spPr>
      </p:sp>
      <p:sp>
        <p:nvSpPr>
          <p:cNvPr id="35" name="request-title">
            <a:extLst xmlns:a="http://schemas.openxmlformats.org/drawingml/2006/main">
              <a:ext uri="{FF2B5EF4-FFF2-40B4-BE49-F238E27FC236}">
                <a16:creationId xmlns:a16="http://schemas.microsoft.com/office/drawing/2014/main" id="{37E0467D-85A2-45E7-8606-837FF06EC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638550"/>
            <a:ext cx="3562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75" b="1">
                <a:solidFill>
                  <a:srgbClr val="F7FBFF"/>
                </a:solidFill>
              </a:defRPr>
            </a:pPr>
            <a:r>
              <a:rPr sz="2175" b="1">
                <a:solidFill>
                  <a:srgbClr val="F7FBFF"/>
                </a:solidFill>
              </a:rPr>
              <a:t>结构化请求</a:t>
            </a:r>
          </a:p>
        </p:txBody>
      </p:sp>
      <p:sp>
        <p:nvSpPr>
          <p:cNvPr id="36" name="request-copy">
            <a:extLst xmlns:a="http://schemas.openxmlformats.org/drawingml/2006/main">
              <a:ext uri="{FF2B5EF4-FFF2-40B4-BE49-F238E27FC236}">
                <a16:creationId xmlns:a16="http://schemas.microsoft.com/office/drawing/2014/main" id="{869ACB87-F491-45D3-909B-DD6208F9B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095750"/>
            <a:ext cx="35623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0">
                <a:solidFill>
                  <a:srgbClr val="B8C4D2"/>
                </a:solidFill>
              </a:defRPr>
            </a:pPr>
            <a:r>
              <a:rPr sz="1800" b="0">
                <a:solidFill>
                  <a:srgbClr val="B8C4D2"/>
                </a:solidFill>
              </a:rPr>
              <a:t>name: get_weather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800" b="0">
                <a:solidFill>
                  <a:srgbClr val="B8C4D2"/>
                </a:solidFill>
              </a:defRPr>
            </a:pPr>
            <a:r>
              <a:rPr sz="1800" b="0">
                <a:solidFill>
                  <a:srgbClr val="B8C4D2"/>
                </a:solidFill>
              </a:rPr>
              <a:t>city: Tokyo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8C0C89B-0D3B-4FA8-9858-FBEFF41B6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086225"/>
            <a:ext cx="123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550" b="1">
                <a:solidFill>
                  <a:srgbClr val="8ED6FF"/>
                </a:solidFill>
              </a:defRPr>
            </a:pPr>
            <a:r>
              <a:rPr sz="2550" b="1">
                <a:solidFill>
                  <a:srgbClr val="8ED6FF"/>
                </a:solidFill>
              </a:rPr>
              <a:t>→</a:t>
            </a:r>
          </a:p>
        </p:txBody>
      </p:sp>
      <p:sp>
        <p:nvSpPr>
          <p:cNvPr id="38" name="executor">
            <a:extLst xmlns:a="http://schemas.openxmlformats.org/drawingml/2006/main">
              <a:ext uri="{FF2B5EF4-FFF2-40B4-BE49-F238E27FC236}">
                <a16:creationId xmlns:a16="http://schemas.microsoft.com/office/drawing/2014/main" id="{CE21B8B3-56AD-4D6C-B943-1E1792E34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3619500"/>
            <a:ext cx="3429000" cy="17145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0A2F4E"/>
          </a:solidFill>
          <a:ln xmlns:a="http://schemas.openxmlformats.org/drawingml/2006/main" w="19050">
            <a:solidFill>
              <a:srgbClr val="A0E6BF"/>
            </a:solidFill>
            <a:prstDash val="solid"/>
          </a:ln>
        </p:spPr>
      </p:sp>
      <p:sp>
        <p:nvSpPr>
          <p:cNvPr id="39" name="executor-title">
            <a:extLst xmlns:a="http://schemas.openxmlformats.org/drawingml/2006/main">
              <a:ext uri="{FF2B5EF4-FFF2-40B4-BE49-F238E27FC236}">
                <a16:creationId xmlns:a16="http://schemas.microsoft.com/office/drawing/2014/main" id="{79577458-F466-4F19-AA21-EDE988FAF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82450" y="3829050"/>
            <a:ext cx="2895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325" b="1">
                <a:solidFill>
                  <a:srgbClr val="A0E6BF"/>
                </a:solidFill>
              </a:defRPr>
            </a:pPr>
            <a:r>
              <a:rPr sz="2325" b="1">
                <a:solidFill>
                  <a:srgbClr val="A0E6BF"/>
                </a:solidFill>
              </a:rPr>
              <a:t>Executor</a:t>
            </a:r>
          </a:p>
        </p:txBody>
      </p:sp>
      <p:sp>
        <p:nvSpPr>
          <p:cNvPr id="40" name="executor-copy">
            <a:extLst xmlns:a="http://schemas.openxmlformats.org/drawingml/2006/main">
              <a:ext uri="{FF2B5EF4-FFF2-40B4-BE49-F238E27FC236}">
                <a16:creationId xmlns:a16="http://schemas.microsoft.com/office/drawing/2014/main" id="{6C8BA9E7-367C-4130-AF54-D90B0CF25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82450" y="4286250"/>
            <a:ext cx="28956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0">
                <a:solidFill>
                  <a:srgbClr val="B8C4D2"/>
                </a:solidFill>
              </a:defRPr>
            </a:pPr>
            <a:r>
              <a:rPr sz="1800" b="0">
                <a:solidFill>
                  <a:srgbClr val="B8C4D2"/>
                </a:solidFill>
              </a:rPr>
              <a:t>应用程序真正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800" b="0">
                <a:solidFill>
                  <a:srgbClr val="B8C4D2"/>
                </a:solidFill>
              </a:defRPr>
            </a:pPr>
            <a:r>
              <a:rPr sz="1800" b="0">
                <a:solidFill>
                  <a:srgbClr val="B8C4D2"/>
                </a:solidFill>
              </a:rPr>
              <a:t>执行函数</a:t>
            </a:r>
          </a:p>
        </p:txBody>
      </p:sp>
      <p:sp>
        <p:nvSpPr>
          <p:cNvPr id="41" name="tool-umbrella">
            <a:extLst xmlns:a="http://schemas.openxmlformats.org/drawingml/2006/main">
              <a:ext uri="{FF2B5EF4-FFF2-40B4-BE49-F238E27FC236}">
                <a16:creationId xmlns:a16="http://schemas.microsoft.com/office/drawing/2014/main" id="{7CBDC874-9632-400F-883F-DCF9E7233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6667500"/>
            <a:ext cx="12573000" cy="1095375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0A2F4E"/>
          </a:solidFill>
          <a:ln xmlns:a="http://schemas.openxmlformats.org/drawingml/2006/main" w="19050">
            <a:solidFill>
              <a:srgbClr val="FFD66F"/>
            </a:solidFill>
            <a:prstDash val="solid"/>
          </a:ln>
        </p:spPr>
      </p:sp>
      <p:sp>
        <p:nvSpPr>
          <p:cNvPr id="42" name="tool-umbrella-title">
            <a:extLst xmlns:a="http://schemas.openxmlformats.org/drawingml/2006/main">
              <a:ext uri="{FF2B5EF4-FFF2-40B4-BE49-F238E27FC236}">
                <a16:creationId xmlns:a16="http://schemas.microsoft.com/office/drawing/2014/main" id="{C9B953D5-C61D-4598-9A54-6C0FD166A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6877050"/>
            <a:ext cx="12039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400" b="1">
                <a:solidFill>
                  <a:srgbClr val="FFD66F"/>
                </a:solidFill>
              </a:defRPr>
            </a:pPr>
            <a:r>
              <a:rPr sz="2400" b="1">
                <a:solidFill>
                  <a:srgbClr val="FFD66F"/>
                </a:solidFill>
              </a:rPr>
              <a:t>TOOL</a:t>
            </a:r>
          </a:p>
        </p:txBody>
      </p:sp>
      <p:sp>
        <p:nvSpPr>
          <p:cNvPr id="43" name="tool-umbrella-copy">
            <a:extLst xmlns:a="http://schemas.openxmlformats.org/drawingml/2006/main">
              <a:ext uri="{FF2B5EF4-FFF2-40B4-BE49-F238E27FC236}">
                <a16:creationId xmlns:a16="http://schemas.microsoft.com/office/drawing/2014/main" id="{380564DC-88F0-4D8F-A1E3-D18E0EBB6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7334250"/>
            <a:ext cx="120396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75" b="0">
                <a:solidFill>
                  <a:srgbClr val="B8C4D2"/>
                </a:solidFill>
              </a:defRPr>
            </a:pPr>
            <a:r>
              <a:rPr sz="1575" b="0">
                <a:solidFill>
                  <a:srgbClr val="B8C4D2"/>
                </a:solidFill>
              </a:rPr>
              <a:t>Function · Web Search · File Search · Computer · MCP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CEA6059-DD3B-43F7-B9AA-2ED624637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5905500"/>
            <a:ext cx="4000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175" b="1">
                <a:solidFill>
                  <a:srgbClr val="FFD66F"/>
                </a:solidFill>
              </a:defRPr>
            </a:pPr>
            <a:r>
              <a:rPr sz="2175" b="1">
                <a:solidFill>
                  <a:srgbClr val="FFD66F"/>
                </a:solidFill>
              </a:rPr>
              <a:t>Function ⊂ Tool</a:t>
            </a:r>
          </a:p>
        </p:txBody>
      </p:sp>
    </p:spTree>
    <p:extLst>
      <p:ext uri="{BB962C8B-B14F-4D97-AF65-F5344CB8AC3E}">
        <p14:creationId xmlns:p14="http://schemas.microsoft.com/office/powerpoint/2010/main" val="152153062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618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glow-top-left-5">
            <a:extLst xmlns:a="http://schemas.openxmlformats.org/drawingml/2006/main">
              <a:ext uri="{FF2B5EF4-FFF2-40B4-BE49-F238E27FC236}">
                <a16:creationId xmlns:a16="http://schemas.microsoft.com/office/drawing/2014/main" id="{D8736E7C-1DB6-4C3E-AB96-B424E1EEE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095500" y="-2667000"/>
            <a:ext cx="6858000" cy="685800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2D7CC4">
                  <a:alpha val="30000"/>
                </a:srgbClr>
              </a:gs>
              <a:gs pos="72000">
                <a:srgbClr val="2D7CC4">
                  <a:alpha val="0"/>
                </a:srgbClr>
              </a:gs>
            </a:gsLst>
            <a:path path="shape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glow-bottom-right-5">
            <a:extLst xmlns:a="http://schemas.openxmlformats.org/drawingml/2006/main">
              <a:ext uri="{FF2B5EF4-FFF2-40B4-BE49-F238E27FC236}">
                <a16:creationId xmlns:a16="http://schemas.microsoft.com/office/drawing/2014/main" id="{71D31228-F81A-4B31-BB53-62C57250B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7239000"/>
            <a:ext cx="6477000" cy="647700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2C65A2">
                  <a:alpha val="24000"/>
                </a:srgbClr>
              </a:gs>
              <a:gs pos="74000">
                <a:srgbClr val="2C65A2">
                  <a:alpha val="0"/>
                </a:srgbClr>
              </a:gs>
            </a:gsLst>
            <a:path path="shape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75A9D6-BFF1-4F4E-95C0-2952A940B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0" cy="10287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23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6E9955-D9D3-48B4-A93F-693BF3E13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0" cy="10287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23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63FBF9-4294-4A7D-8C92-74AD9AD19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0" cy="10287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23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6B7886-A223-4DBD-8F2F-B573B9B22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0" cy="10287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23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47AC68-36F8-4947-983D-76C94A31F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0" cy="10287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23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E4E874-6D6B-4FB1-966C-712D82F16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0" cy="10287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23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AAD734-1814-4A1C-9F10-34E685AC0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0" cy="10287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23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506814-D79C-4D0D-9638-0D82FE672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0" cy="10287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23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C4A684-2888-4253-9DEE-1136DD605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0"/>
            <a:ext cx="0" cy="10287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23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DB157E-4D6E-4E1B-A56C-0B329AD8D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0"/>
            <a:ext cx="0" cy="10287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23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74148C-2EEF-4E5B-BB95-D9571010B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0" y="0"/>
            <a:ext cx="0" cy="10287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23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151D58-A7BC-491B-B86B-3D25CB32B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0" y="0"/>
            <a:ext cx="0" cy="10287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23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3E28D0A-DEDD-43A7-B4AA-C7CB1C9C5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0" y="0"/>
            <a:ext cx="0" cy="10287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23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06ED6E-FF08-48E7-AB51-89E3488E1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23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B38A2BB-F577-47A1-A08B-D1C42D554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0"/>
            <a:ext cx="1828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23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E7210AC-89B5-46B1-8E94-464494BCF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828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23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64197F8-9BB1-4031-9CA7-8C6E76C73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828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23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8185469-34B1-4D6D-ABF1-F66FC98C1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828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23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38DFE7B-495D-463C-9FF8-3A7218535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00"/>
            <a:ext cx="1828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23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F366652-BA8D-4279-9464-96EE3D856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144000"/>
            <a:ext cx="1828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236"/>
            </a:solidFill>
            <a:prstDash val="solid"/>
          </a:ln>
        </p:spPr>
      </p:sp>
      <p:sp>
        <p:nvSpPr>
          <p:cNvPr id="23" name="eyebrow-5">
            <a:extLst xmlns:a="http://schemas.openxmlformats.org/drawingml/2006/main">
              <a:ext uri="{FF2B5EF4-FFF2-40B4-BE49-F238E27FC236}">
                <a16:creationId xmlns:a16="http://schemas.microsoft.com/office/drawing/2014/main" id="{935F94CF-E801-485C-A537-20F890D5A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3850"/>
            <a:ext cx="666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8ED6FF"/>
                </a:solidFill>
              </a:defRPr>
            </a:pPr>
            <a:r>
              <a:rPr sz="1350" b="1">
                <a:solidFill>
                  <a:srgbClr val="8ED6FF"/>
                </a:solidFill>
              </a:rPr>
              <a:t>AGENT ARCHITECTURE / COURSE LOOP</a:t>
            </a:r>
          </a:p>
        </p:txBody>
      </p:sp>
      <p:sp>
        <p:nvSpPr>
          <p:cNvPr id="24" name="label-5">
            <a:extLst xmlns:a="http://schemas.openxmlformats.org/drawingml/2006/main">
              <a:ext uri="{FF2B5EF4-FFF2-40B4-BE49-F238E27FC236}">
                <a16:creationId xmlns:a16="http://schemas.microsoft.com/office/drawing/2014/main" id="{967EFFD6-6157-4174-B572-C777DA48F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0" y="3238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350" b="1">
                <a:solidFill>
                  <a:srgbClr val="FFD66F"/>
                </a:solidFill>
              </a:defRPr>
            </a:pPr>
            <a:r>
              <a:rPr sz="1350" b="1">
                <a:solidFill>
                  <a:srgbClr val="FFD66F"/>
                </a:solidFill>
              </a:rPr>
              <a:t>CONNECTION LAYER / 01:28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3749A4D-99D4-4019-9C1E-B2FFD5D90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76300"/>
            <a:ext cx="1684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B4058"/>
            </a:solidFill>
            <a:prstDash val="solid"/>
          </a:ln>
        </p:spPr>
      </p:sp>
      <p:sp>
        <p:nvSpPr>
          <p:cNvPr id="26" name="title-5">
            <a:extLst xmlns:a="http://schemas.openxmlformats.org/drawingml/2006/main">
              <a:ext uri="{FF2B5EF4-FFF2-40B4-BE49-F238E27FC236}">
                <a16:creationId xmlns:a16="http://schemas.microsoft.com/office/drawing/2014/main" id="{062153E0-924B-4463-B0C4-9E04F1C99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181100"/>
            <a:ext cx="15240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450" b="1">
                <a:solidFill>
                  <a:srgbClr val="F7FBFF"/>
                </a:solidFill>
              </a:defRPr>
            </a:pPr>
            <a:r>
              <a:rPr sz="3450" b="1">
                <a:solidFill>
                  <a:srgbClr val="F7FBFF"/>
                </a:solidFill>
              </a:rPr>
              <a:t>MCP：把外部能力接得更标准</a:t>
            </a:r>
          </a:p>
        </p:txBody>
      </p:sp>
      <p:sp>
        <p:nvSpPr>
          <p:cNvPr id="27" name="subtitle-safe-band-5">
            <a:extLst xmlns:a="http://schemas.openxmlformats.org/drawingml/2006/main">
              <a:ext uri="{FF2B5EF4-FFF2-40B4-BE49-F238E27FC236}">
                <a16:creationId xmlns:a16="http://schemas.microsoft.com/office/drawing/2014/main" id="{676B099D-24DF-49E2-86E1-1B017035E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572500"/>
            <a:ext cx="182880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EB617B9-650C-4448-96CC-9CD66CB4A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572500"/>
            <a:ext cx="1684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04B6A"/>
            </a:solidFill>
            <a:prstDash val="solid"/>
          </a:ln>
        </p:spPr>
      </p:sp>
      <p:sp>
        <p:nvSpPr>
          <p:cNvPr id="29" name="safe-note-5">
            <a:extLst xmlns:a="http://schemas.openxmlformats.org/drawingml/2006/main">
              <a:ext uri="{FF2B5EF4-FFF2-40B4-BE49-F238E27FC236}">
                <a16:creationId xmlns:a16="http://schemas.microsoft.com/office/drawing/2014/main" id="{D0D1E141-2A9D-4D23-A19C-D8C3F2A3A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0" y="8858250"/>
            <a:ext cx="295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050" b="0">
                <a:solidFill>
                  <a:srgbClr val="52718A"/>
                </a:solidFill>
              </a:defRPr>
            </a:pPr>
            <a:r>
              <a:rPr sz="1050" b="0">
                <a:solidFill>
                  <a:srgbClr val="52718A"/>
                </a:solidFill>
              </a:rPr>
              <a:t>字幕安全区（暂不显示）</a:t>
            </a:r>
          </a:p>
        </p:txBody>
      </p:sp>
      <p:sp>
        <p:nvSpPr>
          <p:cNvPr id="30" name="explosion">
            <a:extLst xmlns:a="http://schemas.openxmlformats.org/drawingml/2006/main">
              <a:ext uri="{FF2B5EF4-FFF2-40B4-BE49-F238E27FC236}">
                <a16:creationId xmlns:a16="http://schemas.microsoft.com/office/drawing/2014/main" id="{449307C0-C7F5-4F72-87BB-0C163ED00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19500"/>
            <a:ext cx="4953000" cy="2524125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0A2F4E"/>
          </a:solidFill>
          <a:ln xmlns:a="http://schemas.openxmlformats.org/drawingml/2006/main" w="19050">
            <a:solidFill>
              <a:srgbClr val="FFB1B1"/>
            </a:solidFill>
            <a:prstDash val="solid"/>
          </a:ln>
        </p:spPr>
      </p:sp>
      <p:sp>
        <p:nvSpPr>
          <p:cNvPr id="31" name="explosion-title">
            <a:extLst xmlns:a="http://schemas.openxmlformats.org/drawingml/2006/main">
              <a:ext uri="{FF2B5EF4-FFF2-40B4-BE49-F238E27FC236}">
                <a16:creationId xmlns:a16="http://schemas.microsoft.com/office/drawing/2014/main" id="{27BCA7B5-CC72-4525-9323-440826AB6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829050"/>
            <a:ext cx="4419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325" b="1">
                <a:solidFill>
                  <a:srgbClr val="FFB1B1"/>
                </a:solidFill>
              </a:defRPr>
            </a:pPr>
            <a:r>
              <a:rPr sz="2325" b="1">
                <a:solidFill>
                  <a:srgbClr val="FFB1B1"/>
                </a:solidFill>
              </a:rPr>
              <a:t>没有 MCP</a:t>
            </a:r>
          </a:p>
        </p:txBody>
      </p:sp>
      <p:sp>
        <p:nvSpPr>
          <p:cNvPr id="32" name="explosion-copy">
            <a:extLst xmlns:a="http://schemas.openxmlformats.org/drawingml/2006/main">
              <a:ext uri="{FF2B5EF4-FFF2-40B4-BE49-F238E27FC236}">
                <a16:creationId xmlns:a16="http://schemas.microsoft.com/office/drawing/2014/main" id="{DCCB490D-9EE6-4BD2-A93E-24C459A18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286250"/>
            <a:ext cx="4419600" cy="1685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725" b="0">
                <a:solidFill>
                  <a:srgbClr val="B8C4D2"/>
                </a:solidFill>
              </a:defRPr>
            </a:pPr>
            <a:r>
              <a:rPr sz="1725" b="0">
                <a:solidFill>
                  <a:srgbClr val="B8C4D2"/>
                </a:solidFill>
              </a:rPr>
              <a:t>GitHub · Slack · Notion · DB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725" b="0">
                <a:solidFill>
                  <a:srgbClr val="B8C4D2"/>
                </a:solidFill>
              </a:defRPr>
            </a:pPr>
            <a:r>
              <a:rPr sz="1725" b="0">
                <a:solidFill>
                  <a:srgbClr val="B8C4D2"/>
                </a:solidFill>
              </a:rPr>
              <a:t>每接一个，就写一套适配器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725" b="0">
                <a:solidFill>
                  <a:srgbClr val="B8C4D2"/>
                </a:solidFill>
              </a:defRPr>
            </a:pPr>
            <a:r>
              <a:rPr sz="1725" b="0">
                <a:solidFill>
                  <a:srgbClr val="B8C4D2"/>
                </a:solidFill>
              </a:rPr>
              <a:t>Integration Explosion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0D57165-4224-4CD5-ABA6-FC7B334D4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410075"/>
            <a:ext cx="114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550" b="1">
                <a:solidFill>
                  <a:srgbClr val="8ED6FF"/>
                </a:solidFill>
              </a:defRPr>
            </a:pPr>
            <a:r>
              <a:rPr sz="2550" b="1">
                <a:solidFill>
                  <a:srgbClr val="8ED6FF"/>
                </a:solidFill>
              </a:rPr>
              <a:t>→</a:t>
            </a:r>
          </a:p>
        </p:txBody>
      </p:sp>
      <p:sp>
        <p:nvSpPr>
          <p:cNvPr id="34" name="client">
            <a:extLst xmlns:a="http://schemas.openxmlformats.org/drawingml/2006/main">
              <a:ext uri="{FF2B5EF4-FFF2-40B4-BE49-F238E27FC236}">
                <a16:creationId xmlns:a16="http://schemas.microsoft.com/office/drawing/2014/main" id="{2D6C80C7-1AF4-4E1B-ADF0-6EB3BE04B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905250"/>
            <a:ext cx="3143250" cy="1952625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0A2F4E"/>
          </a:solidFill>
          <a:ln xmlns:a="http://schemas.openxmlformats.org/drawingml/2006/main" w="19050">
            <a:solidFill>
              <a:srgbClr val="FFD66F"/>
            </a:solidFill>
            <a:prstDash val="solid"/>
          </a:ln>
        </p:spPr>
      </p:sp>
      <p:sp>
        <p:nvSpPr>
          <p:cNvPr id="35" name="client-title">
            <a:extLst xmlns:a="http://schemas.openxmlformats.org/drawingml/2006/main">
              <a:ext uri="{FF2B5EF4-FFF2-40B4-BE49-F238E27FC236}">
                <a16:creationId xmlns:a16="http://schemas.microsoft.com/office/drawing/2014/main" id="{FD9EFD0A-B1A3-49B5-AC28-C96A08043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4114800"/>
            <a:ext cx="2609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325" b="1">
                <a:solidFill>
                  <a:srgbClr val="FFD66F"/>
                </a:solidFill>
              </a:defRPr>
            </a:pPr>
            <a:r>
              <a:rPr sz="2325" b="1">
                <a:solidFill>
                  <a:srgbClr val="FFD66F"/>
                </a:solidFill>
              </a:rPr>
              <a:t>MCP Client</a:t>
            </a:r>
          </a:p>
        </p:txBody>
      </p:sp>
      <p:sp>
        <p:nvSpPr>
          <p:cNvPr id="36" name="client-copy">
            <a:extLst xmlns:a="http://schemas.openxmlformats.org/drawingml/2006/main">
              <a:ext uri="{FF2B5EF4-FFF2-40B4-BE49-F238E27FC236}">
                <a16:creationId xmlns:a16="http://schemas.microsoft.com/office/drawing/2014/main" id="{49149A62-9BE5-4E40-807D-B11EBAAD4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4572000"/>
            <a:ext cx="260985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650" b="0">
                <a:solidFill>
                  <a:srgbClr val="B8C4D2"/>
                </a:solidFill>
              </a:defRPr>
            </a:pPr>
            <a:r>
              <a:rPr sz="1650" b="0">
                <a:solidFill>
                  <a:srgbClr val="B8C4D2"/>
                </a:solidFill>
              </a:rPr>
              <a:t>统一发现和调用外部能力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B0A222E-F891-4464-9DDF-6FD29DD4B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4410075"/>
            <a:ext cx="114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550" b="1">
                <a:solidFill>
                  <a:srgbClr val="8ED6FF"/>
                </a:solidFill>
              </a:defRPr>
            </a:pPr>
            <a:r>
              <a:rPr sz="2550" b="1">
                <a:solidFill>
                  <a:srgbClr val="8ED6FF"/>
                </a:solidFill>
              </a:rPr>
              <a:t>→</a:t>
            </a:r>
          </a:p>
        </p:txBody>
      </p:sp>
      <p:sp>
        <p:nvSpPr>
          <p:cNvPr id="38" name="servers">
            <a:extLst xmlns:a="http://schemas.openxmlformats.org/drawingml/2006/main">
              <a:ext uri="{FF2B5EF4-FFF2-40B4-BE49-F238E27FC236}">
                <a16:creationId xmlns:a16="http://schemas.microsoft.com/office/drawing/2014/main" id="{AC9B3912-2B26-4A61-9741-744C93D7D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3524250"/>
            <a:ext cx="4762500" cy="2714625"/>
          </a:xfrm>
          <a:prstGeom xmlns:a="http://schemas.openxmlformats.org/drawingml/2006/main" prst="roundRect">
            <a:avLst>
              <a:gd name="adj" fmla="val 7018"/>
            </a:avLst>
          </a:prstGeom>
          <a:solidFill xmlns:a="http://schemas.openxmlformats.org/drawingml/2006/main">
            <a:srgbClr val="0A2F4E"/>
          </a:solidFill>
          <a:ln xmlns:a="http://schemas.openxmlformats.org/drawingml/2006/main" w="19050">
            <a:solidFill>
              <a:srgbClr val="8ED6FF"/>
            </a:solidFill>
            <a:prstDash val="solid"/>
          </a:ln>
        </p:spPr>
      </p:sp>
      <p:sp>
        <p:nvSpPr>
          <p:cNvPr id="39" name="servers-title">
            <a:extLst xmlns:a="http://schemas.openxmlformats.org/drawingml/2006/main">
              <a:ext uri="{FF2B5EF4-FFF2-40B4-BE49-F238E27FC236}">
                <a16:creationId xmlns:a16="http://schemas.microsoft.com/office/drawing/2014/main" id="{1D1F59F3-08A2-45C0-8F8E-437A88D11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58700" y="3733800"/>
            <a:ext cx="4229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325" b="1">
                <a:solidFill>
                  <a:srgbClr val="8ED6FF"/>
                </a:solidFill>
              </a:defRPr>
            </a:pPr>
            <a:r>
              <a:rPr sz="2325" b="1">
                <a:solidFill>
                  <a:srgbClr val="8ED6FF"/>
                </a:solidFill>
              </a:rPr>
              <a:t>MCP Servers</a:t>
            </a:r>
          </a:p>
        </p:txBody>
      </p:sp>
      <p:sp>
        <p:nvSpPr>
          <p:cNvPr id="40" name="servers-copy">
            <a:extLst xmlns:a="http://schemas.openxmlformats.org/drawingml/2006/main">
              <a:ext uri="{FF2B5EF4-FFF2-40B4-BE49-F238E27FC236}">
                <a16:creationId xmlns:a16="http://schemas.microsoft.com/office/drawing/2014/main" id="{2D2BBF99-9357-4BD8-829F-92CBC6363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58700" y="4191000"/>
            <a:ext cx="4229100" cy="1876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75" b="0">
                <a:solidFill>
                  <a:srgbClr val="B8C4D2"/>
                </a:solidFill>
              </a:defRPr>
            </a:pPr>
            <a:r>
              <a:rPr sz="1875" b="0">
                <a:solidFill>
                  <a:srgbClr val="B8C4D2"/>
                </a:solidFill>
              </a:rPr>
              <a:t>GitHub · Notion · Database</a:t>
            </a:r>
          </a:p>
        </p:txBody>
      </p:sp>
      <p:sp>
        <p:nvSpPr>
          <p:cNvPr id="41" name="mcp-interfaces">
            <a:extLst xmlns:a="http://schemas.openxmlformats.org/drawingml/2006/main">
              <a:ext uri="{FF2B5EF4-FFF2-40B4-BE49-F238E27FC236}">
                <a16:creationId xmlns:a16="http://schemas.microsoft.com/office/drawing/2014/main" id="{5D9F79D8-3A13-4494-B505-104D10A33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858000"/>
            <a:ext cx="5143500" cy="8572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0A2F4E"/>
          </a:solidFill>
          <a:ln xmlns:a="http://schemas.openxmlformats.org/drawingml/2006/main" w="19050">
            <a:solidFill>
              <a:srgbClr val="FFD66F"/>
            </a:solidFill>
            <a:prstDash val="solid"/>
          </a:ln>
        </p:spPr>
      </p:sp>
      <p:sp>
        <p:nvSpPr>
          <p:cNvPr id="42" name="mcp-interfaces-title">
            <a:extLst xmlns:a="http://schemas.openxmlformats.org/drawingml/2006/main">
              <a:ext uri="{FF2B5EF4-FFF2-40B4-BE49-F238E27FC236}">
                <a16:creationId xmlns:a16="http://schemas.microsoft.com/office/drawing/2014/main" id="{05FB7A2E-9D1D-4D91-BF2E-C94DBE49C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7067550"/>
            <a:ext cx="4610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FFD66F"/>
                </a:solidFill>
              </a:defRPr>
            </a:pPr>
            <a:r>
              <a:rPr sz="2100" b="1">
                <a:solidFill>
                  <a:srgbClr val="FFD66F"/>
                </a:solidFill>
              </a:rPr>
              <a:t>Tools · Resources · Prompts</a:t>
            </a:r>
          </a:p>
        </p:txBody>
      </p:sp>
    </p:spTree>
    <p:extLst>
      <p:ext uri="{BB962C8B-B14F-4D97-AF65-F5344CB8AC3E}">
        <p14:creationId xmlns:p14="http://schemas.microsoft.com/office/powerpoint/2010/main" val="99243703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618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glow-top-left-6">
            <a:extLst xmlns:a="http://schemas.openxmlformats.org/drawingml/2006/main">
              <a:ext uri="{FF2B5EF4-FFF2-40B4-BE49-F238E27FC236}">
                <a16:creationId xmlns:a16="http://schemas.microsoft.com/office/drawing/2014/main" id="{B2B01D71-9800-4EE0-9B5B-DC51C7596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095500" y="-2667000"/>
            <a:ext cx="6858000" cy="685800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2D7CC4">
                  <a:alpha val="30000"/>
                </a:srgbClr>
              </a:gs>
              <a:gs pos="72000">
                <a:srgbClr val="2D7CC4">
                  <a:alpha val="0"/>
                </a:srgbClr>
              </a:gs>
            </a:gsLst>
            <a:path path="shape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glow-bottom-right-6">
            <a:extLst xmlns:a="http://schemas.openxmlformats.org/drawingml/2006/main">
              <a:ext uri="{FF2B5EF4-FFF2-40B4-BE49-F238E27FC236}">
                <a16:creationId xmlns:a16="http://schemas.microsoft.com/office/drawing/2014/main" id="{C52ABBEB-E5F7-4713-BACE-6FBFDAB57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7239000"/>
            <a:ext cx="6477000" cy="647700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2C65A2">
                  <a:alpha val="24000"/>
                </a:srgbClr>
              </a:gs>
              <a:gs pos="74000">
                <a:srgbClr val="2C65A2">
                  <a:alpha val="0"/>
                </a:srgbClr>
              </a:gs>
            </a:gsLst>
            <a:path path="shape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705F06-19A1-4F91-8273-1C09AD4E9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0" cy="10287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23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EEB54B-E9D4-48C6-8884-F483D8946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0" cy="10287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23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AC301C-6627-4154-8136-8571B35C1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0" cy="10287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23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4E77C8-B380-4594-8B23-D57129304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0" cy="10287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23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416B08-1628-45DB-975D-81C198D7E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0" cy="10287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23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BD7213-5CA7-428A-9117-CAC24034E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0" cy="10287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23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38B236-1388-411A-9A2D-44AD4DD75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0" cy="10287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23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A0F395-5FCD-4B9A-B321-047B3D896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0" cy="10287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23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87A8C9-31F5-45E3-A0F6-518B16A4E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0"/>
            <a:ext cx="0" cy="10287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23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D20DC1-5947-43F6-BF8A-39999044B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0"/>
            <a:ext cx="0" cy="10287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23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D434FB-F38D-4DCE-9747-1D775216D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0" y="0"/>
            <a:ext cx="0" cy="10287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23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7F1CC6-9EBB-41FA-83EA-807C567AB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0" y="0"/>
            <a:ext cx="0" cy="10287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23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3C25D02-A985-4BDA-9A4B-C6CC8F694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0" y="0"/>
            <a:ext cx="0" cy="10287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23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4370B61-8F0B-43E7-A1F1-20B0F2ABF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23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9C059DB-A971-49A4-92D0-4D8B867E9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0"/>
            <a:ext cx="1828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23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56B41CC-2841-4A52-A0FF-C91928861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828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23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92AF35B-00F8-4703-B30A-3367B61A2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828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23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43308DF-9BB5-44A7-B687-258B92ED9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828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23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C13099D-ACC0-40D7-8C75-73EFFF1AB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00"/>
            <a:ext cx="1828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23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FB15BC6-3B89-4C90-A10E-5E5B4C4F4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144000"/>
            <a:ext cx="1828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236"/>
            </a:solidFill>
            <a:prstDash val="solid"/>
          </a:ln>
        </p:spPr>
      </p:sp>
      <p:sp>
        <p:nvSpPr>
          <p:cNvPr id="23" name="eyebrow-6">
            <a:extLst xmlns:a="http://schemas.openxmlformats.org/drawingml/2006/main">
              <a:ext uri="{FF2B5EF4-FFF2-40B4-BE49-F238E27FC236}">
                <a16:creationId xmlns:a16="http://schemas.microsoft.com/office/drawing/2014/main" id="{6CCBB5DC-AFFE-4B82-B2CE-7742EB7BD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3850"/>
            <a:ext cx="666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8ED6FF"/>
                </a:solidFill>
              </a:defRPr>
            </a:pPr>
            <a:r>
              <a:rPr sz="1350" b="1">
                <a:solidFill>
                  <a:srgbClr val="8ED6FF"/>
                </a:solidFill>
              </a:rPr>
              <a:t>AGENT ARCHITECTURE / COURSE LOOP</a:t>
            </a:r>
          </a:p>
        </p:txBody>
      </p:sp>
      <p:sp>
        <p:nvSpPr>
          <p:cNvPr id="24" name="label-6">
            <a:extLst xmlns:a="http://schemas.openxmlformats.org/drawingml/2006/main">
              <a:ext uri="{FF2B5EF4-FFF2-40B4-BE49-F238E27FC236}">
                <a16:creationId xmlns:a16="http://schemas.microsoft.com/office/drawing/2014/main" id="{C3577767-6525-44C9-B926-58B35825E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0" y="3238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350" b="1">
                <a:solidFill>
                  <a:srgbClr val="FFD66F"/>
                </a:solidFill>
              </a:defRPr>
            </a:pPr>
            <a:r>
              <a:rPr sz="1350" b="1">
                <a:solidFill>
                  <a:srgbClr val="FFD66F"/>
                </a:solidFill>
              </a:rPr>
              <a:t>LAYER RELATIONSHIP / 01:55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EA6EE43-137D-4FA7-94D9-3300FDA48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76300"/>
            <a:ext cx="1684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B4058"/>
            </a:solidFill>
            <a:prstDash val="solid"/>
          </a:ln>
        </p:spPr>
      </p:sp>
      <p:sp>
        <p:nvSpPr>
          <p:cNvPr id="26" name="title-6">
            <a:extLst xmlns:a="http://schemas.openxmlformats.org/drawingml/2006/main">
              <a:ext uri="{FF2B5EF4-FFF2-40B4-BE49-F238E27FC236}">
                <a16:creationId xmlns:a16="http://schemas.microsoft.com/office/drawing/2014/main" id="{A63B2FB8-B762-417C-BF24-44B34CACA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181100"/>
            <a:ext cx="15240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450" b="1">
                <a:solidFill>
                  <a:srgbClr val="F7FBFF"/>
                </a:solidFill>
              </a:defRPr>
            </a:pPr>
            <a:r>
              <a:rPr sz="3450" b="1">
                <a:solidFill>
                  <a:srgbClr val="F7FBFF"/>
                </a:solidFill>
              </a:rPr>
              <a:t>MCP 不取代 API，ADK 也不是另一种接口</a:t>
            </a:r>
          </a:p>
        </p:txBody>
      </p:sp>
      <p:sp>
        <p:nvSpPr>
          <p:cNvPr id="27" name="subtitle-safe-band-6">
            <a:extLst xmlns:a="http://schemas.openxmlformats.org/drawingml/2006/main">
              <a:ext uri="{FF2B5EF4-FFF2-40B4-BE49-F238E27FC236}">
                <a16:creationId xmlns:a16="http://schemas.microsoft.com/office/drawing/2014/main" id="{A0CA96D2-0E9C-448C-9CC3-5E4A7302B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572500"/>
            <a:ext cx="182880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E185AA8-8E9E-4DEE-9CC2-17154DF5F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572500"/>
            <a:ext cx="1684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04B6A"/>
            </a:solidFill>
            <a:prstDash val="solid"/>
          </a:ln>
        </p:spPr>
      </p:sp>
      <p:sp>
        <p:nvSpPr>
          <p:cNvPr id="29" name="safe-note-6">
            <a:extLst xmlns:a="http://schemas.openxmlformats.org/drawingml/2006/main">
              <a:ext uri="{FF2B5EF4-FFF2-40B4-BE49-F238E27FC236}">
                <a16:creationId xmlns:a16="http://schemas.microsoft.com/office/drawing/2014/main" id="{32361BD2-1854-4D8C-83DE-89C14C11B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0" y="8858250"/>
            <a:ext cx="295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050" b="0">
                <a:solidFill>
                  <a:srgbClr val="52718A"/>
                </a:solidFill>
              </a:defRPr>
            </a:pPr>
            <a:r>
              <a:rPr sz="1050" b="0">
                <a:solidFill>
                  <a:srgbClr val="52718A"/>
                </a:solidFill>
              </a:rPr>
              <a:t>字幕安全区（暂不显示）</a:t>
            </a:r>
          </a:p>
        </p:txBody>
      </p:sp>
      <p:sp>
        <p:nvSpPr>
          <p:cNvPr id="30" name="adk">
            <a:extLst xmlns:a="http://schemas.openxmlformats.org/drawingml/2006/main">
              <a:ext uri="{FF2B5EF4-FFF2-40B4-BE49-F238E27FC236}">
                <a16:creationId xmlns:a16="http://schemas.microsoft.com/office/drawing/2014/main" id="{9D518A49-3DF9-4109-A1F9-B19A2F2A7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333750"/>
            <a:ext cx="4762500" cy="32385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0A2F4E"/>
          </a:solidFill>
          <a:ln xmlns:a="http://schemas.openxmlformats.org/drawingml/2006/main" w="19050">
            <a:solidFill>
              <a:srgbClr val="FFD66F"/>
            </a:solidFill>
            <a:prstDash val="solid"/>
          </a:ln>
        </p:spPr>
      </p:sp>
      <p:sp>
        <p:nvSpPr>
          <p:cNvPr id="31" name="adk-title">
            <a:extLst xmlns:a="http://schemas.openxmlformats.org/drawingml/2006/main">
              <a:ext uri="{FF2B5EF4-FFF2-40B4-BE49-F238E27FC236}">
                <a16:creationId xmlns:a16="http://schemas.microsoft.com/office/drawing/2014/main" id="{EAAA90D3-50F5-4052-B544-A533E44EA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543300"/>
            <a:ext cx="4229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225" b="1">
                <a:solidFill>
                  <a:srgbClr val="FFD66F"/>
                </a:solidFill>
              </a:defRPr>
            </a:pPr>
            <a:r>
              <a:rPr sz="3225" b="1">
                <a:solidFill>
                  <a:srgbClr val="FFD66F"/>
                </a:solidFill>
              </a:rPr>
              <a:t>ADK</a:t>
            </a:r>
          </a:p>
        </p:txBody>
      </p:sp>
      <p:sp>
        <p:nvSpPr>
          <p:cNvPr id="32" name="adk-copy">
            <a:extLst xmlns:a="http://schemas.openxmlformats.org/drawingml/2006/main">
              <a:ext uri="{FF2B5EF4-FFF2-40B4-BE49-F238E27FC236}">
                <a16:creationId xmlns:a16="http://schemas.microsoft.com/office/drawing/2014/main" id="{2BE59E28-6ADF-43C5-9556-5FBC091FD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000500"/>
            <a:ext cx="4229100" cy="240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0">
                <a:solidFill>
                  <a:srgbClr val="B8C4D2"/>
                </a:solidFill>
              </a:defRPr>
            </a:pPr>
            <a:r>
              <a:rPr sz="1800" b="0">
                <a:solidFill>
                  <a:srgbClr val="B8C4D2"/>
                </a:solidFill>
              </a:rPr>
              <a:t>Agent Development Kit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800" b="0">
                <a:solidFill>
                  <a:srgbClr val="B8C4D2"/>
                </a:solidFill>
              </a:defRPr>
            </a:pPr>
            <a:r>
              <a:rPr sz="1800" b="0">
                <a:solidFill>
                  <a:srgbClr val="B8C4D2"/>
                </a:solidFill>
              </a:rPr>
              <a:t>状态 · 工作流 · 回调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800" b="0">
                <a:solidFill>
                  <a:srgbClr val="B8C4D2"/>
                </a:solidFill>
              </a:defRPr>
            </a:pPr>
            <a:r>
              <a:rPr sz="1800" b="0">
                <a:solidFill>
                  <a:srgbClr val="B8C4D2"/>
                </a:solidFill>
              </a:rPr>
              <a:t>多 Agent · 评测</a:t>
            </a:r>
          </a:p>
        </p:txBody>
      </p:sp>
      <p:sp>
        <p:nvSpPr>
          <p:cNvPr id="33" name="mcp">
            <a:extLst xmlns:a="http://schemas.openxmlformats.org/drawingml/2006/main">
              <a:ext uri="{FF2B5EF4-FFF2-40B4-BE49-F238E27FC236}">
                <a16:creationId xmlns:a16="http://schemas.microsoft.com/office/drawing/2014/main" id="{1979ECB9-1A1C-460B-A9CA-2A0A8A0AF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333750"/>
            <a:ext cx="4476750" cy="32385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0A2F4E"/>
          </a:solidFill>
          <a:ln xmlns:a="http://schemas.openxmlformats.org/drawingml/2006/main" w="19050">
            <a:solidFill>
              <a:srgbClr val="8ED6FF"/>
            </a:solidFill>
            <a:prstDash val="solid"/>
          </a:ln>
        </p:spPr>
      </p:sp>
      <p:sp>
        <p:nvSpPr>
          <p:cNvPr id="34" name="mcp-title">
            <a:extLst xmlns:a="http://schemas.openxmlformats.org/drawingml/2006/main">
              <a:ext uri="{FF2B5EF4-FFF2-40B4-BE49-F238E27FC236}">
                <a16:creationId xmlns:a16="http://schemas.microsoft.com/office/drawing/2014/main" id="{59D0BFA8-23E3-4C8D-85CE-729CBAC70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543300"/>
            <a:ext cx="3943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225" b="1">
                <a:solidFill>
                  <a:srgbClr val="8ED6FF"/>
                </a:solidFill>
              </a:defRPr>
            </a:pPr>
            <a:r>
              <a:rPr sz="3225" b="1">
                <a:solidFill>
                  <a:srgbClr val="8ED6FF"/>
                </a:solidFill>
              </a:rPr>
              <a:t>MCP</a:t>
            </a:r>
          </a:p>
        </p:txBody>
      </p:sp>
      <p:sp>
        <p:nvSpPr>
          <p:cNvPr id="35" name="mcp-copy">
            <a:extLst xmlns:a="http://schemas.openxmlformats.org/drawingml/2006/main">
              <a:ext uri="{FF2B5EF4-FFF2-40B4-BE49-F238E27FC236}">
                <a16:creationId xmlns:a16="http://schemas.microsoft.com/office/drawing/2014/main" id="{7575D4B6-EF84-45A9-82A1-884B19785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000500"/>
            <a:ext cx="3943350" cy="240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0">
                <a:solidFill>
                  <a:srgbClr val="B8C4D2"/>
                </a:solidFill>
              </a:defRPr>
            </a:pPr>
            <a:r>
              <a:rPr sz="1800" b="0">
                <a:solidFill>
                  <a:srgbClr val="B8C4D2"/>
                </a:solidFill>
              </a:rPr>
              <a:t>统一发现和调用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800" b="0">
                <a:solidFill>
                  <a:srgbClr val="B8C4D2"/>
                </a:solidFill>
              </a:defRPr>
            </a:pPr>
            <a:r>
              <a:rPr sz="1800" b="0">
                <a:solidFill>
                  <a:srgbClr val="B8C4D2"/>
                </a:solidFill>
              </a:rPr>
              <a:t>Tools · Resources · Prompts</a:t>
            </a:r>
          </a:p>
        </p:txBody>
      </p:sp>
      <p:sp>
        <p:nvSpPr>
          <p:cNvPr id="36" name="access">
            <a:extLst xmlns:a="http://schemas.openxmlformats.org/drawingml/2006/main">
              <a:ext uri="{FF2B5EF4-FFF2-40B4-BE49-F238E27FC236}">
                <a16:creationId xmlns:a16="http://schemas.microsoft.com/office/drawing/2014/main" id="{EA13ADDB-0001-417C-9B8E-76AEA5FC9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3333750"/>
            <a:ext cx="4762500" cy="32385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0A2F4E"/>
          </a:solidFill>
          <a:ln xmlns:a="http://schemas.openxmlformats.org/drawingml/2006/main" w="19050">
            <a:solidFill>
              <a:srgbClr val="A0E6BF"/>
            </a:solidFill>
            <a:prstDash val="solid"/>
          </a:ln>
        </p:spPr>
      </p:sp>
      <p:sp>
        <p:nvSpPr>
          <p:cNvPr id="37" name="access-title">
            <a:extLst xmlns:a="http://schemas.openxmlformats.org/drawingml/2006/main">
              <a:ext uri="{FF2B5EF4-FFF2-40B4-BE49-F238E27FC236}">
                <a16:creationId xmlns:a16="http://schemas.microsoft.com/office/drawing/2014/main" id="{9338CE0D-69CB-46D3-9687-8C9A4808C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8200" y="3543300"/>
            <a:ext cx="4229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700" b="1">
                <a:solidFill>
                  <a:srgbClr val="A0E6BF"/>
                </a:solidFill>
              </a:defRPr>
            </a:pPr>
            <a:r>
              <a:rPr sz="2700" b="1">
                <a:solidFill>
                  <a:srgbClr val="A0E6BF"/>
                </a:solidFill>
              </a:rPr>
              <a:t>API / SDK / CLI</a:t>
            </a:r>
          </a:p>
        </p:txBody>
      </p:sp>
      <p:sp>
        <p:nvSpPr>
          <p:cNvPr id="38" name="access-copy">
            <a:extLst xmlns:a="http://schemas.openxmlformats.org/drawingml/2006/main">
              <a:ext uri="{FF2B5EF4-FFF2-40B4-BE49-F238E27FC236}">
                <a16:creationId xmlns:a16="http://schemas.microsoft.com/office/drawing/2014/main" id="{DA15B3E8-FC33-4D5D-A021-6AD696C50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8200" y="4000500"/>
            <a:ext cx="4229100" cy="240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0">
                <a:solidFill>
                  <a:srgbClr val="B8C4D2"/>
                </a:solidFill>
              </a:defRPr>
            </a:pPr>
            <a:r>
              <a:rPr sz="1800" b="0">
                <a:solidFill>
                  <a:srgbClr val="B8C4D2"/>
                </a:solidFill>
              </a:rPr>
              <a:t>真正执行能力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800" b="0">
                <a:solidFill>
                  <a:srgbClr val="B8C4D2"/>
                </a:solidFill>
              </a:defRPr>
            </a:pPr>
            <a:r>
              <a:rPr sz="1800" b="0">
                <a:solidFill>
                  <a:srgbClr val="B8C4D2"/>
                </a:solidFill>
              </a:rPr>
              <a:t>数据库 · 文件 · 服务</a:t>
            </a:r>
          </a:p>
        </p:txBody>
      </p:sp>
      <p:sp>
        <p:nvSpPr>
          <p:cNvPr id="39" name="layer-summary">
            <a:extLst xmlns:a="http://schemas.openxmlformats.org/drawingml/2006/main">
              <a:ext uri="{FF2B5EF4-FFF2-40B4-BE49-F238E27FC236}">
                <a16:creationId xmlns:a16="http://schemas.microsoft.com/office/drawing/2014/main" id="{00A08505-974A-4BB3-931B-33983C76C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7191375"/>
            <a:ext cx="12192000" cy="952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0A2F4E"/>
          </a:solidFill>
          <a:ln xmlns:a="http://schemas.openxmlformats.org/drawingml/2006/main" w="19050">
            <a:solidFill>
              <a:srgbClr val="8ED6FF"/>
            </a:solidFill>
            <a:prstDash val="solid"/>
          </a:ln>
        </p:spPr>
      </p:sp>
      <p:sp>
        <p:nvSpPr>
          <p:cNvPr id="40" name="layer-summary-title">
            <a:extLst xmlns:a="http://schemas.openxmlformats.org/drawingml/2006/main">
              <a:ext uri="{FF2B5EF4-FFF2-40B4-BE49-F238E27FC236}">
                <a16:creationId xmlns:a16="http://schemas.microsoft.com/office/drawing/2014/main" id="{DA367C39-8B5A-4700-9321-2CC48FFB4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7400925"/>
            <a:ext cx="11658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75" b="1">
                <a:solidFill>
                  <a:srgbClr val="F7FBFF"/>
                </a:solidFill>
              </a:defRPr>
            </a:pPr>
            <a:r>
              <a:rPr sz="2175" b="1">
                <a:solidFill>
                  <a:srgbClr val="F7FBFF"/>
                </a:solidFill>
              </a:rPr>
              <a:t>MCP 解决“怎么接工具” · ADK 解决“怎么组织 Agent”</a:t>
            </a:r>
          </a:p>
        </p:txBody>
      </p:sp>
    </p:spTree>
    <p:extLst>
      <p:ext uri="{BB962C8B-B14F-4D97-AF65-F5344CB8AC3E}">
        <p14:creationId xmlns:p14="http://schemas.microsoft.com/office/powerpoint/2010/main" val="62098292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618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7" name="glow-top-left-7">
            <a:extLst xmlns:a="http://schemas.openxmlformats.org/drawingml/2006/main">
              <a:ext uri="{FF2B5EF4-FFF2-40B4-BE49-F238E27FC236}">
                <a16:creationId xmlns:a16="http://schemas.microsoft.com/office/drawing/2014/main" id="{5A829D67-B134-47D7-B089-CDAC0AA96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095500" y="-2667000"/>
            <a:ext cx="6858000" cy="685800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2D7CC4">
                  <a:alpha val="30000"/>
                </a:srgbClr>
              </a:gs>
              <a:gs pos="72000">
                <a:srgbClr val="2D7CC4">
                  <a:alpha val="0"/>
                </a:srgbClr>
              </a:gs>
            </a:gsLst>
            <a:path path="shape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glow-bottom-right-7">
            <a:extLst xmlns:a="http://schemas.openxmlformats.org/drawingml/2006/main">
              <a:ext uri="{FF2B5EF4-FFF2-40B4-BE49-F238E27FC236}">
                <a16:creationId xmlns:a16="http://schemas.microsoft.com/office/drawing/2014/main" id="{C4F0CA6A-769C-4770-8F72-C5BAB4F1C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7239000"/>
            <a:ext cx="6477000" cy="647700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2C65A2">
                  <a:alpha val="24000"/>
                </a:srgbClr>
              </a:gs>
              <a:gs pos="74000">
                <a:srgbClr val="2C65A2">
                  <a:alpha val="0"/>
                </a:srgbClr>
              </a:gs>
            </a:gsLst>
            <a:path path="shape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96DCCD-B0B2-40C0-A0C3-05D07F16D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0" cy="10287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23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45F318-FB92-4326-B7E2-1C8F3A79B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0" cy="10287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23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78F5F1-91CB-4D1B-8D09-47DD33981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0" cy="10287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23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0BCB8F-80E8-436E-A820-C5BB12554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0" cy="10287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23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487240-059B-437F-AB82-8B79D2661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0" cy="10287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23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EEC687-DA9B-4BCE-9AF8-14C97DB7D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0" cy="10287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23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8CC520-3F64-4F38-8498-BB2E21F8D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0" cy="10287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23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915C13-FE27-4052-8B16-8412B177D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0" cy="10287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23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A43C8D-C3DD-4F98-B8B7-A02CEEB54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0"/>
            <a:ext cx="0" cy="10287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23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8BA210-303C-4F77-BAC1-6C608BFF7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0"/>
            <a:ext cx="0" cy="10287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23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F4DD33-3416-44AC-9C51-78F7FAF48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0" y="0"/>
            <a:ext cx="0" cy="10287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23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7B98DE-A8BF-4210-A14C-158109344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0" y="0"/>
            <a:ext cx="0" cy="10287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23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ED62630-4DC1-42C2-8C52-A8BA6787E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0" y="0"/>
            <a:ext cx="0" cy="10287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23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38BE233-3CA3-42F8-80BF-295F7B5DF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23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AB67E28-3F3F-4DA0-90E8-1829ED658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0"/>
            <a:ext cx="1828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23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196C394-7F97-4A55-96D0-DCC0D6FC4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828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23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9894651-5DCA-474E-9FC6-60053CC93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828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23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27D0F7E-9E70-4586-81E1-BB5D889D4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828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23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ED5C275-4DFC-443F-B6B9-CC66D49D7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00"/>
            <a:ext cx="1828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23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0DF3EB4-9C81-4568-AEF8-E0CBA06B4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144000"/>
            <a:ext cx="1828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236"/>
            </a:solidFill>
            <a:prstDash val="solid"/>
          </a:ln>
        </p:spPr>
      </p:sp>
      <p:sp>
        <p:nvSpPr>
          <p:cNvPr id="23" name="eyebrow-7">
            <a:extLst xmlns:a="http://schemas.openxmlformats.org/drawingml/2006/main">
              <a:ext uri="{FF2B5EF4-FFF2-40B4-BE49-F238E27FC236}">
                <a16:creationId xmlns:a16="http://schemas.microsoft.com/office/drawing/2014/main" id="{5B640898-56F1-4291-AD0A-782540B7C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3850"/>
            <a:ext cx="666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8ED6FF"/>
                </a:solidFill>
              </a:defRPr>
            </a:pPr>
            <a:r>
              <a:rPr sz="1350" b="1">
                <a:solidFill>
                  <a:srgbClr val="8ED6FF"/>
                </a:solidFill>
              </a:rPr>
              <a:t>AGENT ARCHITECTURE / COURSE LOOP</a:t>
            </a:r>
          </a:p>
        </p:txBody>
      </p:sp>
      <p:sp>
        <p:nvSpPr>
          <p:cNvPr id="24" name="label-7">
            <a:extLst xmlns:a="http://schemas.openxmlformats.org/drawingml/2006/main">
              <a:ext uri="{FF2B5EF4-FFF2-40B4-BE49-F238E27FC236}">
                <a16:creationId xmlns:a16="http://schemas.microsoft.com/office/drawing/2014/main" id="{6F03CB7B-C2B5-461B-84CB-D52ED15DA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0" y="3238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350" b="1">
                <a:solidFill>
                  <a:srgbClr val="FFD66F"/>
                </a:solidFill>
              </a:defRPr>
            </a:pPr>
            <a:r>
              <a:rPr sz="1350" b="1">
                <a:solidFill>
                  <a:srgbClr val="FFD66F"/>
                </a:solidFill>
              </a:rPr>
              <a:t>CASE / 02:20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99182D7-4A1C-4629-8534-E344BE5A3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76300"/>
            <a:ext cx="1684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B4058"/>
            </a:solidFill>
            <a:prstDash val="solid"/>
          </a:ln>
        </p:spPr>
      </p:sp>
      <p:sp>
        <p:nvSpPr>
          <p:cNvPr id="26" name="title-7">
            <a:extLst xmlns:a="http://schemas.openxmlformats.org/drawingml/2006/main">
              <a:ext uri="{FF2B5EF4-FFF2-40B4-BE49-F238E27FC236}">
                <a16:creationId xmlns:a16="http://schemas.microsoft.com/office/drawing/2014/main" id="{59C0CEC3-0E65-4A69-9280-19109635C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181100"/>
            <a:ext cx="15240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450" b="1">
                <a:solidFill>
                  <a:srgbClr val="F7FBFF"/>
                </a:solidFill>
              </a:defRPr>
            </a:pPr>
            <a:r>
              <a:rPr sz="3450" b="1">
                <a:solidFill>
                  <a:srgbClr val="F7FBFF"/>
                </a:solidFill>
              </a:rPr>
              <a:t>一个订单案例串起全部层级</a:t>
            </a:r>
          </a:p>
        </p:txBody>
      </p:sp>
      <p:sp>
        <p:nvSpPr>
          <p:cNvPr id="27" name="subtitle-safe-band-7">
            <a:extLst xmlns:a="http://schemas.openxmlformats.org/drawingml/2006/main">
              <a:ext uri="{FF2B5EF4-FFF2-40B4-BE49-F238E27FC236}">
                <a16:creationId xmlns:a16="http://schemas.microsoft.com/office/drawing/2014/main" id="{2642F568-CEB4-4FD1-AF13-6B78F446D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572500"/>
            <a:ext cx="182880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D3D8DCF-3673-4D8E-80A9-DC6032BD4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572500"/>
            <a:ext cx="1684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04B6A"/>
            </a:solidFill>
            <a:prstDash val="solid"/>
          </a:ln>
        </p:spPr>
      </p:sp>
      <p:sp>
        <p:nvSpPr>
          <p:cNvPr id="29" name="safe-note-7">
            <a:extLst xmlns:a="http://schemas.openxmlformats.org/drawingml/2006/main">
              <a:ext uri="{FF2B5EF4-FFF2-40B4-BE49-F238E27FC236}">
                <a16:creationId xmlns:a16="http://schemas.microsoft.com/office/drawing/2014/main" id="{B10804DD-8956-4A6E-8D50-95A384C15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0" y="8858250"/>
            <a:ext cx="295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050" b="0">
                <a:solidFill>
                  <a:srgbClr val="52718A"/>
                </a:solidFill>
              </a:defRPr>
            </a:pPr>
            <a:r>
              <a:rPr sz="1050" b="0">
                <a:solidFill>
                  <a:srgbClr val="52718A"/>
                </a:solidFill>
              </a:rPr>
              <a:t>字幕安全区（暂不显示）</a:t>
            </a:r>
          </a:p>
        </p:txBody>
      </p:sp>
      <p:sp>
        <p:nvSpPr>
          <p:cNvPr id="30" name="user">
            <a:extLst xmlns:a="http://schemas.openxmlformats.org/drawingml/2006/main">
              <a:ext uri="{FF2B5EF4-FFF2-40B4-BE49-F238E27FC236}">
                <a16:creationId xmlns:a16="http://schemas.microsoft.com/office/drawing/2014/main" id="{73EFBE7D-AEC6-4140-9396-1298DC5A8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714750"/>
            <a:ext cx="2952750" cy="180975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0A2F4E"/>
          </a:solidFill>
          <a:ln xmlns:a="http://schemas.openxmlformats.org/drawingml/2006/main" w="19050">
            <a:solidFill>
              <a:srgbClr val="FFD66F"/>
            </a:solidFill>
            <a:prstDash val="solid"/>
          </a:ln>
        </p:spPr>
      </p:sp>
      <p:sp>
        <p:nvSpPr>
          <p:cNvPr id="31" name="user-title">
            <a:extLst xmlns:a="http://schemas.openxmlformats.org/drawingml/2006/main">
              <a:ext uri="{FF2B5EF4-FFF2-40B4-BE49-F238E27FC236}">
                <a16:creationId xmlns:a16="http://schemas.microsoft.com/office/drawing/2014/main" id="{BBBF7CFD-B95D-4229-A9A2-EDDA0FA59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924300"/>
            <a:ext cx="2419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325" b="1">
                <a:solidFill>
                  <a:srgbClr val="FFD66F"/>
                </a:solidFill>
              </a:defRPr>
            </a:pPr>
            <a:r>
              <a:rPr sz="2325" b="1">
                <a:solidFill>
                  <a:srgbClr val="FFD66F"/>
                </a:solidFill>
              </a:rPr>
              <a:t>用户</a:t>
            </a:r>
          </a:p>
        </p:txBody>
      </p:sp>
      <p:sp>
        <p:nvSpPr>
          <p:cNvPr id="32" name="user-copy">
            <a:extLst xmlns:a="http://schemas.openxmlformats.org/drawingml/2006/main">
              <a:ext uri="{FF2B5EF4-FFF2-40B4-BE49-F238E27FC236}">
                <a16:creationId xmlns:a16="http://schemas.microsoft.com/office/drawing/2014/main" id="{F19A3609-2FD3-4E3D-A08D-8A5AD84AB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381500"/>
            <a:ext cx="24193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0">
                <a:solidFill>
                  <a:srgbClr val="B8C4D2"/>
                </a:solidFill>
              </a:defRPr>
            </a:pPr>
            <a:r>
              <a:rPr sz="1800" b="0">
                <a:solidFill>
                  <a:srgbClr val="B8C4D2"/>
                </a:solidFill>
              </a:rPr>
              <a:t>查订单 123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800" b="0">
                <a:solidFill>
                  <a:srgbClr val="B8C4D2"/>
                </a:solidFill>
              </a:defRPr>
            </a:pPr>
            <a:r>
              <a:rPr sz="1800" b="0">
                <a:solidFill>
                  <a:srgbClr val="B8C4D2"/>
                </a:solidFill>
              </a:rPr>
              <a:t>未发货就退款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F314692-BE28-4C2C-963D-169CDE334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4248150"/>
            <a:ext cx="114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550" b="1">
                <a:solidFill>
                  <a:srgbClr val="8ED6FF"/>
                </a:solidFill>
              </a:defRPr>
            </a:pPr>
            <a:r>
              <a:rPr sz="2550" b="1">
                <a:solidFill>
                  <a:srgbClr val="8ED6FF"/>
                </a:solidFill>
              </a:rPr>
              <a:t>→</a:t>
            </a:r>
          </a:p>
        </p:txBody>
      </p:sp>
      <p:sp>
        <p:nvSpPr>
          <p:cNvPr id="34" name="adk-case">
            <a:extLst xmlns:a="http://schemas.openxmlformats.org/drawingml/2006/main">
              <a:ext uri="{FF2B5EF4-FFF2-40B4-BE49-F238E27FC236}">
                <a16:creationId xmlns:a16="http://schemas.microsoft.com/office/drawing/2014/main" id="{F4CFB737-89FF-4143-BBE6-AD264DC62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714750"/>
            <a:ext cx="2857500" cy="180975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0A2F4E"/>
          </a:solidFill>
          <a:ln xmlns:a="http://schemas.openxmlformats.org/drawingml/2006/main" w="19050">
            <a:solidFill>
              <a:srgbClr val="8ED6FF"/>
            </a:solidFill>
            <a:prstDash val="solid"/>
          </a:ln>
        </p:spPr>
      </p:sp>
      <p:sp>
        <p:nvSpPr>
          <p:cNvPr id="35" name="adk-case-title">
            <a:extLst xmlns:a="http://schemas.openxmlformats.org/drawingml/2006/main">
              <a:ext uri="{FF2B5EF4-FFF2-40B4-BE49-F238E27FC236}">
                <a16:creationId xmlns:a16="http://schemas.microsoft.com/office/drawing/2014/main" id="{40A15CD1-FBE8-4459-B709-A8EE8356B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3924300"/>
            <a:ext cx="2324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325" b="1">
                <a:solidFill>
                  <a:srgbClr val="F7FBFF"/>
                </a:solidFill>
              </a:defRPr>
            </a:pPr>
            <a:r>
              <a:rPr sz="2325" b="1">
                <a:solidFill>
                  <a:srgbClr val="F7FBFF"/>
                </a:solidFill>
              </a:rPr>
              <a:t>ADK</a:t>
            </a:r>
          </a:p>
        </p:txBody>
      </p:sp>
      <p:sp>
        <p:nvSpPr>
          <p:cNvPr id="36" name="adk-case-copy">
            <a:extLst xmlns:a="http://schemas.openxmlformats.org/drawingml/2006/main">
              <a:ext uri="{FF2B5EF4-FFF2-40B4-BE49-F238E27FC236}">
                <a16:creationId xmlns:a16="http://schemas.microsoft.com/office/drawing/2014/main" id="{608C3FFE-19A6-4333-8731-09B93B720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4381500"/>
            <a:ext cx="23241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950" b="0">
                <a:solidFill>
                  <a:srgbClr val="B8C4D2"/>
                </a:solidFill>
              </a:defRPr>
            </a:pPr>
            <a:r>
              <a:rPr sz="1950" b="0">
                <a:solidFill>
                  <a:srgbClr val="B8C4D2"/>
                </a:solidFill>
              </a:rPr>
              <a:t>组织流程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2B482CB-04C7-4F42-A763-C679D2302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248150"/>
            <a:ext cx="114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550" b="1">
                <a:solidFill>
                  <a:srgbClr val="8ED6FF"/>
                </a:solidFill>
              </a:defRPr>
            </a:pPr>
            <a:r>
              <a:rPr sz="2550" b="1">
                <a:solidFill>
                  <a:srgbClr val="8ED6FF"/>
                </a:solidFill>
              </a:rPr>
              <a:t>→</a:t>
            </a:r>
          </a:p>
        </p:txBody>
      </p:sp>
      <p:sp>
        <p:nvSpPr>
          <p:cNvPr id="38" name="llm-case">
            <a:extLst xmlns:a="http://schemas.openxmlformats.org/drawingml/2006/main">
              <a:ext uri="{FF2B5EF4-FFF2-40B4-BE49-F238E27FC236}">
                <a16:creationId xmlns:a16="http://schemas.microsoft.com/office/drawing/2014/main" id="{BF985584-C33C-4276-BD6E-6A315DD58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714750"/>
            <a:ext cx="3238500" cy="180975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0A2F4E"/>
          </a:solidFill>
          <a:ln xmlns:a="http://schemas.openxmlformats.org/drawingml/2006/main" w="19050">
            <a:solidFill>
              <a:srgbClr val="8ED6FF"/>
            </a:solidFill>
            <a:prstDash val="solid"/>
          </a:ln>
        </p:spPr>
      </p:sp>
      <p:sp>
        <p:nvSpPr>
          <p:cNvPr id="39" name="llm-case-title">
            <a:extLst xmlns:a="http://schemas.openxmlformats.org/drawingml/2006/main">
              <a:ext uri="{FF2B5EF4-FFF2-40B4-BE49-F238E27FC236}">
                <a16:creationId xmlns:a16="http://schemas.microsoft.com/office/drawing/2014/main" id="{620E2C4F-D2FE-4EF0-B7CB-EC11D63B6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3924300"/>
            <a:ext cx="2705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325" b="1">
                <a:solidFill>
                  <a:srgbClr val="F7FBFF"/>
                </a:solidFill>
              </a:defRPr>
            </a:pPr>
            <a:r>
              <a:rPr sz="2325" b="1">
                <a:solidFill>
                  <a:srgbClr val="F7FBFF"/>
                </a:solidFill>
              </a:rPr>
              <a:t>LLM</a:t>
            </a:r>
          </a:p>
        </p:txBody>
      </p:sp>
      <p:sp>
        <p:nvSpPr>
          <p:cNvPr id="40" name="llm-case-copy">
            <a:extLst xmlns:a="http://schemas.openxmlformats.org/drawingml/2006/main">
              <a:ext uri="{FF2B5EF4-FFF2-40B4-BE49-F238E27FC236}">
                <a16:creationId xmlns:a16="http://schemas.microsoft.com/office/drawing/2014/main" id="{98305141-FBC2-4C43-98EE-C47770C7F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4381500"/>
            <a:ext cx="27051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0">
                <a:solidFill>
                  <a:srgbClr val="B8C4D2"/>
                </a:solidFill>
              </a:defRPr>
            </a:pPr>
            <a:r>
              <a:rPr sz="1800" b="0">
                <a:solidFill>
                  <a:srgbClr val="B8C4D2"/>
                </a:solidFill>
              </a:rPr>
              <a:t>通过 Tool Calling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800" b="0">
                <a:solidFill>
                  <a:srgbClr val="B8C4D2"/>
                </a:solidFill>
              </a:defRPr>
            </a:pPr>
            <a:r>
              <a:rPr sz="1800" b="0">
                <a:solidFill>
                  <a:srgbClr val="B8C4D2"/>
                </a:solidFill>
              </a:rPr>
              <a:t>选择查询工具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7727055-0284-41EC-A5D9-6A7261C38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01625" y="4248150"/>
            <a:ext cx="114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550" b="1">
                <a:solidFill>
                  <a:srgbClr val="8ED6FF"/>
                </a:solidFill>
              </a:defRPr>
            </a:pPr>
            <a:r>
              <a:rPr sz="2550" b="1">
                <a:solidFill>
                  <a:srgbClr val="8ED6FF"/>
                </a:solidFill>
              </a:rPr>
              <a:t>→</a:t>
            </a:r>
          </a:p>
        </p:txBody>
      </p:sp>
      <p:sp>
        <p:nvSpPr>
          <p:cNvPr id="42" name="stack-case">
            <a:extLst xmlns:a="http://schemas.openxmlformats.org/drawingml/2006/main">
              <a:ext uri="{FF2B5EF4-FFF2-40B4-BE49-F238E27FC236}">
                <a16:creationId xmlns:a16="http://schemas.microsoft.com/office/drawing/2014/main" id="{97C765A7-5943-4489-9B81-4A018119D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0" y="3238500"/>
            <a:ext cx="2857500" cy="29527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0A2F4E"/>
          </a:solidFill>
          <a:ln xmlns:a="http://schemas.openxmlformats.org/drawingml/2006/main" w="19050">
            <a:solidFill>
              <a:srgbClr val="A0E6BF"/>
            </a:solidFill>
            <a:prstDash val="solid"/>
          </a:ln>
        </p:spPr>
      </p:sp>
      <p:sp>
        <p:nvSpPr>
          <p:cNvPr id="43" name="stack-case-title">
            <a:extLst xmlns:a="http://schemas.openxmlformats.org/drawingml/2006/main">
              <a:ext uri="{FF2B5EF4-FFF2-40B4-BE49-F238E27FC236}">
                <a16:creationId xmlns:a16="http://schemas.microsoft.com/office/drawing/2014/main" id="{C009BEC4-D96D-45A1-BE4F-A22FDF0D1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58950" y="3448050"/>
            <a:ext cx="2324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A0E6BF"/>
                </a:solidFill>
              </a:defRPr>
            </a:pPr>
            <a:r>
              <a:rPr sz="1875" b="1">
                <a:solidFill>
                  <a:srgbClr val="A0E6BF"/>
                </a:solidFill>
              </a:rPr>
              <a:t>MCP / SDK / API</a:t>
            </a:r>
          </a:p>
        </p:txBody>
      </p:sp>
      <p:sp>
        <p:nvSpPr>
          <p:cNvPr id="44" name="stack-case-copy">
            <a:extLst xmlns:a="http://schemas.openxmlformats.org/drawingml/2006/main">
              <a:ext uri="{FF2B5EF4-FFF2-40B4-BE49-F238E27FC236}">
                <a16:creationId xmlns:a16="http://schemas.microsoft.com/office/drawing/2014/main" id="{2676A120-260D-4DCF-891E-6F7BE528C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58950" y="3905250"/>
            <a:ext cx="2324100" cy="2114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725" b="0">
                <a:solidFill>
                  <a:srgbClr val="B8C4D2"/>
                </a:solidFill>
              </a:defRPr>
            </a:pPr>
            <a:r>
              <a:rPr sz="1725" b="0">
                <a:solidFill>
                  <a:srgbClr val="B8C4D2"/>
                </a:solidFill>
              </a:rPr>
              <a:t>读取订单数据库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725" b="0">
                <a:solidFill>
                  <a:srgbClr val="B8C4D2"/>
                </a:solidFill>
              </a:defRPr>
            </a:pPr>
            <a:r>
              <a:rPr sz="1725" b="0">
                <a:solidFill>
                  <a:srgbClr val="B8C4D2"/>
                </a:solidFill>
              </a:rPr>
              <a:t>返回 pending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725" b="0">
                <a:solidFill>
                  <a:srgbClr val="B8C4D2"/>
                </a:solidFill>
              </a:defRPr>
            </a:pPr>
            <a:r>
              <a:rPr sz="1725" b="0">
                <a:solidFill>
                  <a:srgbClr val="B8C4D2"/>
                </a:solidFill>
              </a:rPr>
              <a:t>执行 refund</a:t>
            </a:r>
          </a:p>
        </p:txBody>
      </p:sp>
      <p:sp>
        <p:nvSpPr>
          <p:cNvPr id="45" name="result-case">
            <a:extLst xmlns:a="http://schemas.openxmlformats.org/drawingml/2006/main">
              <a:ext uri="{FF2B5EF4-FFF2-40B4-BE49-F238E27FC236}">
                <a16:creationId xmlns:a16="http://schemas.microsoft.com/office/drawing/2014/main" id="{1F176EFA-EA83-4863-9CF5-E58DD8196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7000875"/>
            <a:ext cx="8382000" cy="904875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0A2F4E"/>
          </a:solidFill>
          <a:ln xmlns:a="http://schemas.openxmlformats.org/drawingml/2006/main" w="19050">
            <a:solidFill>
              <a:srgbClr val="A0E6BF"/>
            </a:solidFill>
            <a:prstDash val="solid"/>
          </a:ln>
        </p:spPr>
      </p:sp>
      <p:sp>
        <p:nvSpPr>
          <p:cNvPr id="46" name="result-case-title">
            <a:extLst xmlns:a="http://schemas.openxmlformats.org/drawingml/2006/main">
              <a:ext uri="{FF2B5EF4-FFF2-40B4-BE49-F238E27FC236}">
                <a16:creationId xmlns:a16="http://schemas.microsoft.com/office/drawing/2014/main" id="{ADC84F73-1FE4-49D5-9F57-318400BF6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7210425"/>
            <a:ext cx="7848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325" b="1">
                <a:solidFill>
                  <a:srgbClr val="A0E6BF"/>
                </a:solidFill>
              </a:defRPr>
            </a:pPr>
            <a:r>
              <a:rPr sz="2325" b="1">
                <a:solidFill>
                  <a:srgbClr val="A0E6BF"/>
                </a:solidFill>
              </a:rPr>
              <a:t>退款完成 → 返回用户</a:t>
            </a:r>
          </a:p>
        </p:txBody>
      </p:sp>
    </p:spTree>
    <p:extLst>
      <p:ext uri="{BB962C8B-B14F-4D97-AF65-F5344CB8AC3E}">
        <p14:creationId xmlns:p14="http://schemas.microsoft.com/office/powerpoint/2010/main" val="170839755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618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glow-top-left-8">
            <a:extLst xmlns:a="http://schemas.openxmlformats.org/drawingml/2006/main">
              <a:ext uri="{FF2B5EF4-FFF2-40B4-BE49-F238E27FC236}">
                <a16:creationId xmlns:a16="http://schemas.microsoft.com/office/drawing/2014/main" id="{5E95B354-BAB4-40BC-8D53-CFF9DBE08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095500" y="-2667000"/>
            <a:ext cx="6858000" cy="685800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2D7CC4">
                  <a:alpha val="30000"/>
                </a:srgbClr>
              </a:gs>
              <a:gs pos="72000">
                <a:srgbClr val="2D7CC4">
                  <a:alpha val="0"/>
                </a:srgbClr>
              </a:gs>
            </a:gsLst>
            <a:path path="shape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glow-bottom-right-8">
            <a:extLst xmlns:a="http://schemas.openxmlformats.org/drawingml/2006/main">
              <a:ext uri="{FF2B5EF4-FFF2-40B4-BE49-F238E27FC236}">
                <a16:creationId xmlns:a16="http://schemas.microsoft.com/office/drawing/2014/main" id="{F08EA978-8682-4323-9405-80E26C99F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7239000"/>
            <a:ext cx="6477000" cy="647700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2C65A2">
                  <a:alpha val="24000"/>
                </a:srgbClr>
              </a:gs>
              <a:gs pos="74000">
                <a:srgbClr val="2C65A2">
                  <a:alpha val="0"/>
                </a:srgbClr>
              </a:gs>
            </a:gsLst>
            <a:path path="shape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0E1FC3-A5B0-4405-96A1-CC2479CE6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0" cy="10287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23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03614F-E3C9-4DD8-A4F5-7431EB08B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0" cy="10287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23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F5414D-DA9F-4DD0-85AC-254A23B39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0" cy="10287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23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81B156-9755-41F2-861B-5D0EA3E5F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0" cy="10287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23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DEE639-214F-43BB-8E11-A784B04C4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0" cy="10287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23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23ABD6-C14F-46DC-AD4E-DA3178EBB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0" cy="10287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23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B3C667-F7BE-452A-A301-06168B751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0" cy="10287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23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03597A-F09E-48C9-B02A-4603819AB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0" cy="10287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23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69AE05-B38E-4375-9F12-E1206CB9F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0"/>
            <a:ext cx="0" cy="10287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23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73C9F4-00E1-4F42-A4A5-F6864E921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0"/>
            <a:ext cx="0" cy="10287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23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F8B1E3-E20E-406D-9ADF-104C61DF2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0" y="0"/>
            <a:ext cx="0" cy="10287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23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EEF6E66-5B1D-40F8-A52F-19D410087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0" y="0"/>
            <a:ext cx="0" cy="10287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23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A508842-4A94-43A2-83B2-7938A586C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0" y="0"/>
            <a:ext cx="0" cy="10287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23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66ED56C-1E38-4F5A-9B4F-16C6737D5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23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8DA6FE5-D572-4313-9621-F45C729A4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0"/>
            <a:ext cx="1828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23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BBFD16F-D0F1-4EAA-A4F6-09764440D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828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23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B9D2A7F-7B28-4D14-A98F-8E5347948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828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23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58BAD2A-CCF0-473D-8406-9079B2348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828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23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75CA8ED-5B81-4C08-8F33-B3E978969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00"/>
            <a:ext cx="1828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23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4756D2B-D2FB-4054-888E-5FF48DC31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144000"/>
            <a:ext cx="1828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236"/>
            </a:solidFill>
            <a:prstDash val="solid"/>
          </a:ln>
        </p:spPr>
      </p:sp>
      <p:sp>
        <p:nvSpPr>
          <p:cNvPr id="23" name="eyebrow-8">
            <a:extLst xmlns:a="http://schemas.openxmlformats.org/drawingml/2006/main">
              <a:ext uri="{FF2B5EF4-FFF2-40B4-BE49-F238E27FC236}">
                <a16:creationId xmlns:a16="http://schemas.microsoft.com/office/drawing/2014/main" id="{F83D6E6C-B18B-4CD8-914A-B834C901D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3850"/>
            <a:ext cx="666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8ED6FF"/>
                </a:solidFill>
              </a:defRPr>
            </a:pPr>
            <a:r>
              <a:rPr sz="1350" b="1">
                <a:solidFill>
                  <a:srgbClr val="8ED6FF"/>
                </a:solidFill>
              </a:rPr>
              <a:t>AGENT ARCHITECTURE / COURSE LOOP</a:t>
            </a:r>
          </a:p>
        </p:txBody>
      </p:sp>
      <p:sp>
        <p:nvSpPr>
          <p:cNvPr id="24" name="label-8">
            <a:extLst xmlns:a="http://schemas.openxmlformats.org/drawingml/2006/main">
              <a:ext uri="{FF2B5EF4-FFF2-40B4-BE49-F238E27FC236}">
                <a16:creationId xmlns:a16="http://schemas.microsoft.com/office/drawing/2014/main" id="{C938689B-7E80-4D11-B702-2FA5D4028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0" y="3238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350" b="1">
                <a:solidFill>
                  <a:srgbClr val="FFD66F"/>
                </a:solidFill>
              </a:defRPr>
            </a:pPr>
            <a:r>
              <a:rPr sz="1350" b="1">
                <a:solidFill>
                  <a:srgbClr val="FFD66F"/>
                </a:solidFill>
              </a:rPr>
              <a:t>MEMORY / 02:50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51A7B8A-7EAD-4835-BEF4-A59ADE30F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76300"/>
            <a:ext cx="1684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B4058"/>
            </a:solidFill>
            <a:prstDash val="solid"/>
          </a:ln>
        </p:spPr>
      </p:sp>
      <p:sp>
        <p:nvSpPr>
          <p:cNvPr id="26" name="title-8">
            <a:extLst xmlns:a="http://schemas.openxmlformats.org/drawingml/2006/main">
              <a:ext uri="{FF2B5EF4-FFF2-40B4-BE49-F238E27FC236}">
                <a16:creationId xmlns:a16="http://schemas.microsoft.com/office/drawing/2014/main" id="{16B6300F-B2D0-4AB5-A437-C1106D074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181100"/>
            <a:ext cx="15240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450" b="1">
                <a:solidFill>
                  <a:srgbClr val="F7FBFF"/>
                </a:solidFill>
              </a:defRPr>
            </a:pPr>
            <a:r>
              <a:rPr sz="3450" b="1">
                <a:solidFill>
                  <a:srgbClr val="F7FBFF"/>
                </a:solidFill>
              </a:rPr>
              <a:t>七句话，记住它们的位置</a:t>
            </a:r>
          </a:p>
        </p:txBody>
      </p:sp>
      <p:sp>
        <p:nvSpPr>
          <p:cNvPr id="27" name="subtitle-safe-band-8">
            <a:extLst xmlns:a="http://schemas.openxmlformats.org/drawingml/2006/main">
              <a:ext uri="{FF2B5EF4-FFF2-40B4-BE49-F238E27FC236}">
                <a16:creationId xmlns:a16="http://schemas.microsoft.com/office/drawing/2014/main" id="{C754037C-73DA-4321-A52C-50775721F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572500"/>
            <a:ext cx="182880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DF13C90-7E3C-41A0-8F45-49227C5DD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572500"/>
            <a:ext cx="1684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04B6A"/>
            </a:solidFill>
            <a:prstDash val="solid"/>
          </a:ln>
        </p:spPr>
      </p:sp>
      <p:sp>
        <p:nvSpPr>
          <p:cNvPr id="29" name="safe-note-8">
            <a:extLst xmlns:a="http://schemas.openxmlformats.org/drawingml/2006/main">
              <a:ext uri="{FF2B5EF4-FFF2-40B4-BE49-F238E27FC236}">
                <a16:creationId xmlns:a16="http://schemas.microsoft.com/office/drawing/2014/main" id="{1FF39F24-4033-4615-873C-1F2B2ADCB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0" y="8858250"/>
            <a:ext cx="295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050" b="0">
                <a:solidFill>
                  <a:srgbClr val="52718A"/>
                </a:solidFill>
              </a:defRPr>
            </a:pPr>
            <a:r>
              <a:rPr sz="1050" b="0">
                <a:solidFill>
                  <a:srgbClr val="52718A"/>
                </a:solidFill>
              </a:rPr>
              <a:t>字幕安全区（暂不显示）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20606D0-9E08-4BF6-83C9-D64E95D79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209925"/>
            <a:ext cx="15430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C4462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F0BA0DA-4E97-44F1-A091-D974E7792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619375"/>
            <a:ext cx="3810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75" b="1">
                <a:solidFill>
                  <a:srgbClr val="8ED6FF"/>
                </a:solidFill>
              </a:defRPr>
            </a:pPr>
            <a:r>
              <a:rPr sz="2175" b="1">
                <a:solidFill>
                  <a:srgbClr val="8ED6FF"/>
                </a:solidFill>
              </a:rPr>
              <a:t>API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CA6FF0E-44D7-4C8D-974B-6A6C5A6F3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619375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0">
                <a:solidFill>
                  <a:srgbClr val="B8C4D2"/>
                </a:solidFill>
              </a:defRPr>
            </a:pPr>
            <a:r>
              <a:rPr sz="1875" b="0">
                <a:solidFill>
                  <a:srgbClr val="B8C4D2"/>
                </a:solidFill>
              </a:rPr>
              <a:t>软件之间的能力契约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BDC4F27-DB9D-4769-8B16-5256BAC7A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924300"/>
            <a:ext cx="15430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C4462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8B27967-197B-4598-881D-46EB443FC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333750"/>
            <a:ext cx="3810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75" b="1">
                <a:solidFill>
                  <a:srgbClr val="8ED6FF"/>
                </a:solidFill>
              </a:defRPr>
            </a:pPr>
            <a:r>
              <a:rPr sz="2175" b="1">
                <a:solidFill>
                  <a:srgbClr val="8ED6FF"/>
                </a:solidFill>
              </a:rPr>
              <a:t>SDK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4505C31-3815-414F-9815-44217AB73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3337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0">
                <a:solidFill>
                  <a:srgbClr val="B8C4D2"/>
                </a:solidFill>
              </a:defRPr>
            </a:pPr>
            <a:r>
              <a:rPr sz="1875" b="0">
                <a:solidFill>
                  <a:srgbClr val="B8C4D2"/>
                </a:solidFill>
              </a:rPr>
              <a:t>让开发者更方便地使用 API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1EFF12F-DE08-4BA1-A98D-2880B5F82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638675"/>
            <a:ext cx="15430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C4462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582433B-FAB0-4DDB-B8B6-9A064E9A8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048125"/>
            <a:ext cx="3810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75" b="1">
                <a:solidFill>
                  <a:srgbClr val="8ED6FF"/>
                </a:solidFill>
              </a:defRPr>
            </a:pPr>
            <a:r>
              <a:rPr sz="2175" b="1">
                <a:solidFill>
                  <a:srgbClr val="8ED6FF"/>
                </a:solidFill>
              </a:rPr>
              <a:t>CLI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03D0CF2-81D4-46FD-9254-EE81FAAEE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048125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0">
                <a:solidFill>
                  <a:srgbClr val="B8C4D2"/>
                </a:solidFill>
              </a:defRPr>
            </a:pPr>
            <a:r>
              <a:rPr sz="1875" b="0">
                <a:solidFill>
                  <a:srgbClr val="B8C4D2"/>
                </a:solidFill>
              </a:rPr>
              <a:t>让人或脚本通过命令行操作软件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9DC270D-CF12-48AD-BDDF-47EAAE828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353050"/>
            <a:ext cx="15430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C4462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BAB10D4-E5A7-429E-9D20-C29E609DA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762500"/>
            <a:ext cx="3810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8ED6FF"/>
                </a:solidFill>
              </a:defRPr>
            </a:pPr>
            <a:r>
              <a:rPr sz="1800" b="1">
                <a:solidFill>
                  <a:srgbClr val="8ED6FF"/>
                </a:solidFill>
              </a:rPr>
              <a:t>Function Calling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EF5DF2C-CAC8-4F83-87C2-2A5729E45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76250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0">
                <a:solidFill>
                  <a:srgbClr val="B8C4D2"/>
                </a:solidFill>
              </a:defRPr>
            </a:pPr>
            <a:r>
              <a:rPr sz="1875" b="0">
                <a:solidFill>
                  <a:srgbClr val="B8C4D2"/>
                </a:solidFill>
              </a:rPr>
              <a:t>让模型产生结构化函数请求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0ACD99A-C97D-4B5C-A5EC-B5FFAB150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6067425"/>
            <a:ext cx="15430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C4462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31A7514-9325-465E-A887-702646AB3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476875"/>
            <a:ext cx="3810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75" b="1">
                <a:solidFill>
                  <a:srgbClr val="8ED6FF"/>
                </a:solidFill>
              </a:defRPr>
            </a:pPr>
            <a:r>
              <a:rPr sz="2175" b="1">
                <a:solidFill>
                  <a:srgbClr val="8ED6FF"/>
                </a:solidFill>
              </a:rPr>
              <a:t>Tool Calling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7DBBD21-3975-4F2C-855A-149456E8C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5476875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0">
                <a:solidFill>
                  <a:srgbClr val="B8C4D2"/>
                </a:solidFill>
              </a:defRPr>
            </a:pPr>
            <a:r>
              <a:rPr sz="1875" b="0">
                <a:solidFill>
                  <a:srgbClr val="B8C4D2"/>
                </a:solidFill>
              </a:rPr>
              <a:t>模型选择并使用外部能力的总机制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36EF069-CDBE-400F-BB63-83150478B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6781800"/>
            <a:ext cx="15430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C4462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154CC89-67C5-4C6D-B1F5-58D5A46F1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6191250"/>
            <a:ext cx="3810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75" b="1">
                <a:solidFill>
                  <a:srgbClr val="FFD66F"/>
                </a:solidFill>
              </a:defRPr>
            </a:pPr>
            <a:r>
              <a:rPr sz="2175" b="1">
                <a:solidFill>
                  <a:srgbClr val="FFD66F"/>
                </a:solidFill>
              </a:rPr>
              <a:t>MCP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DD48089-95B2-4134-976A-D6CAEB884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61912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0">
                <a:solidFill>
                  <a:srgbClr val="B8C4D2"/>
                </a:solidFill>
              </a:defRPr>
            </a:pPr>
            <a:r>
              <a:rPr sz="1875" b="0">
                <a:solidFill>
                  <a:srgbClr val="B8C4D2"/>
                </a:solidFill>
              </a:rPr>
              <a:t>让 AI 用统一协议连接工具和数据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C255AE8-AEB9-4C30-8484-A31999820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7496175"/>
            <a:ext cx="15430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C4462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11CEFD8-8A4E-48A3-8351-1C60C239D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6905625"/>
            <a:ext cx="3810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75" b="1">
                <a:solidFill>
                  <a:srgbClr val="8ED6FF"/>
                </a:solidFill>
              </a:defRPr>
            </a:pPr>
            <a:r>
              <a:rPr sz="2175" b="1">
                <a:solidFill>
                  <a:srgbClr val="8ED6FF"/>
                </a:solidFill>
              </a:rPr>
              <a:t>ADK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64125FD-07A8-4DAC-B682-0C8AE328F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6905625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0">
                <a:solidFill>
                  <a:srgbClr val="B8C4D2"/>
                </a:solidFill>
              </a:defRPr>
            </a:pPr>
            <a:r>
              <a:rPr sz="1875" b="0">
                <a:solidFill>
                  <a:srgbClr val="B8C4D2"/>
                </a:solidFill>
              </a:rPr>
              <a:t>把模型、工具、状态和流程组织成完整 Agent</a:t>
            </a:r>
          </a:p>
        </p:txBody>
      </p:sp>
    </p:spTree>
    <p:extLst>
      <p:ext uri="{BB962C8B-B14F-4D97-AF65-F5344CB8AC3E}">
        <p14:creationId xmlns:p14="http://schemas.microsoft.com/office/powerpoint/2010/main" val="181523132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618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glow-top-left-9">
            <a:extLst xmlns:a="http://schemas.openxmlformats.org/drawingml/2006/main">
              <a:ext uri="{FF2B5EF4-FFF2-40B4-BE49-F238E27FC236}">
                <a16:creationId xmlns:a16="http://schemas.microsoft.com/office/drawing/2014/main" id="{CEE4191F-A598-4973-A0AC-8AB5995BF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095500" y="-2667000"/>
            <a:ext cx="6858000" cy="685800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2D7CC4">
                  <a:alpha val="30000"/>
                </a:srgbClr>
              </a:gs>
              <a:gs pos="72000">
                <a:srgbClr val="2D7CC4">
                  <a:alpha val="0"/>
                </a:srgbClr>
              </a:gs>
            </a:gsLst>
            <a:path path="shape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glow-bottom-right-9">
            <a:extLst xmlns:a="http://schemas.openxmlformats.org/drawingml/2006/main">
              <a:ext uri="{FF2B5EF4-FFF2-40B4-BE49-F238E27FC236}">
                <a16:creationId xmlns:a16="http://schemas.microsoft.com/office/drawing/2014/main" id="{1CE664D3-1E5D-47C9-A9A5-7BF092971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7239000"/>
            <a:ext cx="6477000" cy="647700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2C65A2">
                  <a:alpha val="24000"/>
                </a:srgbClr>
              </a:gs>
              <a:gs pos="74000">
                <a:srgbClr val="2C65A2">
                  <a:alpha val="0"/>
                </a:srgbClr>
              </a:gs>
            </a:gsLst>
            <a:path path="shape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6F704E-14F5-416F-A496-037A4117A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0" cy="10287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23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2E1004-E123-493A-BCDA-9E63555BE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0" cy="10287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23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95CF82-1AC0-4B98-AAC2-4435E9075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0" cy="10287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23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844256-EFEE-4F0E-B1E2-11CC19BE4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0" cy="10287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23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969C79-1FA7-4E9A-8E41-63641F9E0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0" cy="10287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23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1BF1CC-FF2D-4606-93D8-011E6A2F9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0" cy="10287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23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0FBF80-336D-470E-B70E-82B9C00B0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0" cy="10287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23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959C63-001B-4746-8AE3-1748C5B47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0" cy="10287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23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8B0B94-E9C8-4533-B2FC-D2871E588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0"/>
            <a:ext cx="0" cy="10287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23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A26A19-D003-41C4-8FF3-FCF60ED3C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0"/>
            <a:ext cx="0" cy="10287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23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0D192D-06FF-4A32-A6C3-10366212C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0" y="0"/>
            <a:ext cx="0" cy="10287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23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72C4076-B123-463E-87A3-A5B8EC9B9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0" y="0"/>
            <a:ext cx="0" cy="10287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23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A5E997E-D9F7-4421-9811-EFC2DE4D5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0" y="0"/>
            <a:ext cx="0" cy="10287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23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B73F0B8-9A5A-416D-A169-F54EFA651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23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C547802-A4B8-4F9B-91C1-7E03E8085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0"/>
            <a:ext cx="1828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23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A7CD80C-7962-40CE-BE91-DE63277CF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828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23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F961BF7-8CEF-4295-9518-FE5D72976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828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23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D796357-FAE2-458F-AFA3-552E9B184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828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23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AD96BA3-5161-4AA5-B8BF-3C2077B34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00"/>
            <a:ext cx="1828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23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9A2D0AC-E7FE-44B5-92FB-DC3DDE4B1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144000"/>
            <a:ext cx="1828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236"/>
            </a:solidFill>
            <a:prstDash val="solid"/>
          </a:ln>
        </p:spPr>
      </p:sp>
      <p:sp>
        <p:nvSpPr>
          <p:cNvPr id="23" name="eyebrow-9">
            <a:extLst xmlns:a="http://schemas.openxmlformats.org/drawingml/2006/main">
              <a:ext uri="{FF2B5EF4-FFF2-40B4-BE49-F238E27FC236}">
                <a16:creationId xmlns:a16="http://schemas.microsoft.com/office/drawing/2014/main" id="{E26EC5FE-327A-42E9-B1B7-E9EA380DF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3850"/>
            <a:ext cx="666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8ED6FF"/>
                </a:solidFill>
              </a:defRPr>
            </a:pPr>
            <a:r>
              <a:rPr sz="1350" b="1">
                <a:solidFill>
                  <a:srgbClr val="8ED6FF"/>
                </a:solidFill>
              </a:rPr>
              <a:t>AGENT ARCHITECTURE / COURSE LOOP</a:t>
            </a:r>
          </a:p>
        </p:txBody>
      </p:sp>
      <p:sp>
        <p:nvSpPr>
          <p:cNvPr id="24" name="label-9">
            <a:extLst xmlns:a="http://schemas.openxmlformats.org/drawingml/2006/main">
              <a:ext uri="{FF2B5EF4-FFF2-40B4-BE49-F238E27FC236}">
                <a16:creationId xmlns:a16="http://schemas.microsoft.com/office/drawing/2014/main" id="{4AAA6668-043F-4E92-BE17-E246ECDE2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0" y="3238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350" b="1">
                <a:solidFill>
                  <a:srgbClr val="FFD66F"/>
                </a:solidFill>
              </a:defRPr>
            </a:pPr>
            <a:r>
              <a:rPr sz="1350" b="1">
                <a:solidFill>
                  <a:srgbClr val="FFD66F"/>
                </a:solidFill>
              </a:rPr>
              <a:t>CLOSE / 03:14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B37DCA9-43E9-4EFD-AADC-FCC299759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76300"/>
            <a:ext cx="1684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B4058"/>
            </a:solidFill>
            <a:prstDash val="solid"/>
          </a:ln>
        </p:spPr>
      </p:sp>
      <p:sp>
        <p:nvSpPr>
          <p:cNvPr id="26" name="title-9">
            <a:extLst xmlns:a="http://schemas.openxmlformats.org/drawingml/2006/main">
              <a:ext uri="{FF2B5EF4-FFF2-40B4-BE49-F238E27FC236}">
                <a16:creationId xmlns:a16="http://schemas.microsoft.com/office/drawing/2014/main" id="{66E8037F-908F-425B-839F-6AF9D2739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181100"/>
            <a:ext cx="15240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450" b="1">
                <a:solidFill>
                  <a:srgbClr val="F7FBFF"/>
                </a:solidFill>
              </a:defRPr>
            </a:pPr>
            <a:r>
              <a:rPr sz="3450" b="1">
                <a:solidFill>
                  <a:srgbClr val="F7FBFF"/>
                </a:solidFill>
              </a:rPr>
              <a:t>以后先问：它属于哪一层？</a:t>
            </a:r>
          </a:p>
        </p:txBody>
      </p:sp>
      <p:sp>
        <p:nvSpPr>
          <p:cNvPr id="27" name="subtitle-safe-band-9">
            <a:extLst xmlns:a="http://schemas.openxmlformats.org/drawingml/2006/main">
              <a:ext uri="{FF2B5EF4-FFF2-40B4-BE49-F238E27FC236}">
                <a16:creationId xmlns:a16="http://schemas.microsoft.com/office/drawing/2014/main" id="{CBA39185-4271-48EA-9366-3B95A797E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572500"/>
            <a:ext cx="182880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C1E4BA7-1A8E-43CF-8248-E9C5B2C6D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572500"/>
            <a:ext cx="1684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04B6A"/>
            </a:solidFill>
            <a:prstDash val="solid"/>
          </a:ln>
        </p:spPr>
      </p:sp>
      <p:sp>
        <p:nvSpPr>
          <p:cNvPr id="29" name="safe-note-9">
            <a:extLst xmlns:a="http://schemas.openxmlformats.org/drawingml/2006/main">
              <a:ext uri="{FF2B5EF4-FFF2-40B4-BE49-F238E27FC236}">
                <a16:creationId xmlns:a16="http://schemas.microsoft.com/office/drawing/2014/main" id="{EA07B543-9568-4A19-8C39-271D69E9B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0" y="8858250"/>
            <a:ext cx="295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050" b="0">
                <a:solidFill>
                  <a:srgbClr val="52718A"/>
                </a:solidFill>
              </a:defRPr>
            </a:pPr>
            <a:r>
              <a:rPr sz="1050" b="0">
                <a:solidFill>
                  <a:srgbClr val="52718A"/>
                </a:solidFill>
              </a:rPr>
              <a:t>字幕安全区（暂不显示）</a:t>
            </a:r>
          </a:p>
        </p:txBody>
      </p:sp>
      <p:sp>
        <p:nvSpPr>
          <p:cNvPr id="30" name="q1">
            <a:extLst xmlns:a="http://schemas.openxmlformats.org/drawingml/2006/main">
              <a:ext uri="{FF2B5EF4-FFF2-40B4-BE49-F238E27FC236}">
                <a16:creationId xmlns:a16="http://schemas.microsoft.com/office/drawing/2014/main" id="{E23DB736-121B-40DD-B588-03F3465DA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619500"/>
            <a:ext cx="4095750" cy="17145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0A2F4E"/>
          </a:solidFill>
          <a:ln xmlns:a="http://schemas.openxmlformats.org/drawingml/2006/main" w="19050">
            <a:solidFill>
              <a:srgbClr val="8ED6FF"/>
            </a:solidFill>
            <a:prstDash val="solid"/>
          </a:ln>
        </p:spPr>
      </p:sp>
      <p:sp>
        <p:nvSpPr>
          <p:cNvPr id="31" name="q1-title">
            <a:extLst xmlns:a="http://schemas.openxmlformats.org/drawingml/2006/main">
              <a:ext uri="{FF2B5EF4-FFF2-40B4-BE49-F238E27FC236}">
                <a16:creationId xmlns:a16="http://schemas.microsoft.com/office/drawing/2014/main" id="{4232BD86-8547-40F6-ADF7-06005FC66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3829050"/>
            <a:ext cx="3562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250" b="1">
                <a:solidFill>
                  <a:srgbClr val="F7FBFF"/>
                </a:solidFill>
              </a:defRPr>
            </a:pPr>
            <a:r>
              <a:rPr sz="2250" b="1">
                <a:solidFill>
                  <a:srgbClr val="F7FBFF"/>
                </a:solidFill>
              </a:rPr>
              <a:t>01</a:t>
            </a:r>
          </a:p>
        </p:txBody>
      </p:sp>
      <p:sp>
        <p:nvSpPr>
          <p:cNvPr id="32" name="q1-copy">
            <a:extLst xmlns:a="http://schemas.openxmlformats.org/drawingml/2006/main">
              <a:ext uri="{FF2B5EF4-FFF2-40B4-BE49-F238E27FC236}">
                <a16:creationId xmlns:a16="http://schemas.microsoft.com/office/drawing/2014/main" id="{DCFCD0FE-BA17-4C0C-AEC8-F97A788CA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286250"/>
            <a:ext cx="35623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175" b="0">
                <a:solidFill>
                  <a:srgbClr val="B8C4D2"/>
                </a:solidFill>
              </a:defRPr>
            </a:pPr>
            <a:r>
              <a:rPr sz="2175" b="0">
                <a:solidFill>
                  <a:srgbClr val="B8C4D2"/>
                </a:solidFill>
              </a:rPr>
              <a:t>它属于哪一层？</a:t>
            </a:r>
          </a:p>
        </p:txBody>
      </p:sp>
      <p:sp>
        <p:nvSpPr>
          <p:cNvPr id="33" name="q2">
            <a:extLst xmlns:a="http://schemas.openxmlformats.org/drawingml/2006/main">
              <a:ext uri="{FF2B5EF4-FFF2-40B4-BE49-F238E27FC236}">
                <a16:creationId xmlns:a16="http://schemas.microsoft.com/office/drawing/2014/main" id="{F8CD93F2-8AC9-4239-9F68-EA649A60A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619500"/>
            <a:ext cx="4095750" cy="17145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0A2F4E"/>
          </a:solidFill>
          <a:ln xmlns:a="http://schemas.openxmlformats.org/drawingml/2006/main" w="19050">
            <a:solidFill>
              <a:srgbClr val="FFD66F"/>
            </a:solidFill>
            <a:prstDash val="solid"/>
          </a:ln>
        </p:spPr>
      </p:sp>
      <p:sp>
        <p:nvSpPr>
          <p:cNvPr id="34" name="q2-title">
            <a:extLst xmlns:a="http://schemas.openxmlformats.org/drawingml/2006/main">
              <a:ext uri="{FF2B5EF4-FFF2-40B4-BE49-F238E27FC236}">
                <a16:creationId xmlns:a16="http://schemas.microsoft.com/office/drawing/2014/main" id="{29578722-7321-48EF-B43E-AC0D237A3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3829050"/>
            <a:ext cx="3562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250" b="1">
                <a:solidFill>
                  <a:srgbClr val="FFD66F"/>
                </a:solidFill>
              </a:defRPr>
            </a:pPr>
            <a:r>
              <a:rPr sz="2250" b="1">
                <a:solidFill>
                  <a:srgbClr val="FFD66F"/>
                </a:solidFill>
              </a:rPr>
              <a:t>02</a:t>
            </a:r>
          </a:p>
        </p:txBody>
      </p:sp>
      <p:sp>
        <p:nvSpPr>
          <p:cNvPr id="35" name="q2-copy">
            <a:extLst xmlns:a="http://schemas.openxmlformats.org/drawingml/2006/main">
              <a:ext uri="{FF2B5EF4-FFF2-40B4-BE49-F238E27FC236}">
                <a16:creationId xmlns:a16="http://schemas.microsoft.com/office/drawing/2014/main" id="{0A6594A8-5C84-4630-92E8-ACC1425A9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4286250"/>
            <a:ext cx="35623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175" b="0">
                <a:solidFill>
                  <a:srgbClr val="B8C4D2"/>
                </a:solidFill>
              </a:defRPr>
            </a:pPr>
            <a:r>
              <a:rPr sz="2175" b="0">
                <a:solidFill>
                  <a:srgbClr val="B8C4D2"/>
                </a:solidFill>
              </a:rPr>
              <a:t>它连接的是谁？</a:t>
            </a:r>
          </a:p>
        </p:txBody>
      </p:sp>
      <p:sp>
        <p:nvSpPr>
          <p:cNvPr id="36" name="q3">
            <a:extLst xmlns:a="http://schemas.openxmlformats.org/drawingml/2006/main">
              <a:ext uri="{FF2B5EF4-FFF2-40B4-BE49-F238E27FC236}">
                <a16:creationId xmlns:a16="http://schemas.microsoft.com/office/drawing/2014/main" id="{CA1033EA-FF03-4EB5-AC2F-36C3BF606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6375" y="3619500"/>
            <a:ext cx="4095750" cy="17145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0A2F4E"/>
          </a:solidFill>
          <a:ln xmlns:a="http://schemas.openxmlformats.org/drawingml/2006/main" w="19050">
            <a:solidFill>
              <a:srgbClr val="A0E6BF"/>
            </a:solidFill>
            <a:prstDash val="solid"/>
          </a:ln>
        </p:spPr>
      </p:sp>
      <p:sp>
        <p:nvSpPr>
          <p:cNvPr id="37" name="q3-title">
            <a:extLst xmlns:a="http://schemas.openxmlformats.org/drawingml/2006/main">
              <a:ext uri="{FF2B5EF4-FFF2-40B4-BE49-F238E27FC236}">
                <a16:creationId xmlns:a16="http://schemas.microsoft.com/office/drawing/2014/main" id="{B4C8C686-EBE3-4F32-8D46-B9D67A21A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73075" y="3829050"/>
            <a:ext cx="3562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250" b="1">
                <a:solidFill>
                  <a:srgbClr val="A0E6BF"/>
                </a:solidFill>
              </a:defRPr>
            </a:pPr>
            <a:r>
              <a:rPr sz="2250" b="1">
                <a:solidFill>
                  <a:srgbClr val="A0E6BF"/>
                </a:solidFill>
              </a:rPr>
              <a:t>03</a:t>
            </a:r>
          </a:p>
        </p:txBody>
      </p:sp>
      <p:sp>
        <p:nvSpPr>
          <p:cNvPr id="38" name="q3-copy">
            <a:extLst xmlns:a="http://schemas.openxmlformats.org/drawingml/2006/main">
              <a:ext uri="{FF2B5EF4-FFF2-40B4-BE49-F238E27FC236}">
                <a16:creationId xmlns:a16="http://schemas.microsoft.com/office/drawing/2014/main" id="{CD42F234-7EAD-4224-814D-AEE552785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73075" y="4286250"/>
            <a:ext cx="35623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75" b="0">
                <a:solidFill>
                  <a:srgbClr val="B8C4D2"/>
                </a:solidFill>
              </a:defRPr>
            </a:pPr>
            <a:r>
              <a:rPr sz="1875" b="0">
                <a:solidFill>
                  <a:srgbClr val="B8C4D2"/>
                </a:solidFill>
              </a:rPr>
              <a:t>解决调用、连接，还是编排？</a:t>
            </a:r>
          </a:p>
        </p:txBody>
      </p:sp>
      <p:sp>
        <p:nvSpPr>
          <p:cNvPr id="39" name="final">
            <a:extLst xmlns:a="http://schemas.openxmlformats.org/drawingml/2006/main">
              <a:ext uri="{FF2B5EF4-FFF2-40B4-BE49-F238E27FC236}">
                <a16:creationId xmlns:a16="http://schemas.microsoft.com/office/drawing/2014/main" id="{C5EC3015-13E4-4305-9ED3-126B992B9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6858000"/>
            <a:ext cx="12001500" cy="10477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0A2F4E"/>
          </a:solidFill>
          <a:ln xmlns:a="http://schemas.openxmlformats.org/drawingml/2006/main" w="19050">
            <a:solidFill>
              <a:srgbClr val="8ED6FF"/>
            </a:solidFill>
            <a:prstDash val="solid"/>
          </a:ln>
        </p:spPr>
      </p:sp>
      <p:sp>
        <p:nvSpPr>
          <p:cNvPr id="40" name="final-title">
            <a:extLst xmlns:a="http://schemas.openxmlformats.org/drawingml/2006/main">
              <a:ext uri="{FF2B5EF4-FFF2-40B4-BE49-F238E27FC236}">
                <a16:creationId xmlns:a16="http://schemas.microsoft.com/office/drawing/2014/main" id="{F96D2913-356D-4FA1-9362-D9AF3A952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7067550"/>
            <a:ext cx="11468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325" b="1">
                <a:solidFill>
                  <a:srgbClr val="F7FBFF"/>
                </a:solidFill>
              </a:defRPr>
            </a:pPr>
            <a:r>
              <a:rPr sz="2325" b="1">
                <a:solidFill>
                  <a:srgbClr val="F7FBFF"/>
                </a:solidFill>
              </a:rPr>
              <a:t>放回这张地图，AI Agent 技术栈就清楚了。</a:t>
            </a:r>
          </a:p>
        </p:txBody>
      </p:sp>
    </p:spTree>
    <p:extLst>
      <p:ext uri="{BB962C8B-B14F-4D97-AF65-F5344CB8AC3E}">
        <p14:creationId xmlns:p14="http://schemas.microsoft.com/office/powerpoint/2010/main" val="143375096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2026-08-10T09:09:19.9310000Z</dcterms:created>
  <dcterms:modified xsi:type="dcterms:W3CDTF">2026-08-10T09:09:19.9310000Z</dcterms:modified>
</coreProperties>
</file>